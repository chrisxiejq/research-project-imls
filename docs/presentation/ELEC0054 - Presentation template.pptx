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6" r:id="rId3"/>
  </p:sldMasterIdLst>
  <p:notesMasterIdLst>
    <p:notesMasterId r:id="rId5"/>
  </p:notesMasterIdLst>
  <p:handoutMasterIdLst>
    <p:handoutMasterId r:id="rId14"/>
  </p:handoutMasterIdLst>
  <p:sldIdLst>
    <p:sldId id="273" r:id="rId4"/>
    <p:sldId id="266" r:id="rId6"/>
    <p:sldId id="320" r:id="rId7"/>
    <p:sldId id="321" r:id="rId8"/>
    <p:sldId id="323" r:id="rId9"/>
    <p:sldId id="324" r:id="rId10"/>
    <p:sldId id="325" r:id="rId11"/>
    <p:sldId id="322" r:id="rId12"/>
    <p:sldId id="318" r:id="rId13"/>
  </p:sldIdLst>
  <p:sldSz cx="12192000" cy="6858000"/>
  <p:notesSz cx="6858000" cy="9144000"/>
  <p:embeddedFontLst>
    <p:embeddedFont>
      <p:font typeface="UCL Sans SemiBold" pitchFamily="2" charset="77"/>
      <p:regular r:id="rId18"/>
    </p:embeddedFont>
    <p:embeddedFont>
      <p:font typeface="UCL Sans" pitchFamily="2" charset="77"/>
      <p:regular r:id="rId19"/>
    </p:embeddedFont>
    <p:embeddedFont>
      <p:font typeface="UCL Sans"/>
      <p:regular r:id="rId20"/>
    </p:embeddedFont>
    <p:embeddedFont>
      <p:font typeface="UCL Sans SemiBold"/>
      <p:regular r:id="rId21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CL Slides" id="{64BE57D8-B9E0-4D48-BBC7-659295F1B008}">
          <p14:sldIdLst>
            <p14:sldId id="273"/>
            <p14:sldId id="266"/>
            <p14:sldId id="320"/>
            <p14:sldId id="321"/>
            <p14:sldId id="323"/>
            <p14:sldId id="324"/>
            <p14:sldId id="325"/>
            <p14:sldId id="322"/>
            <p14:sldId id="31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5C"/>
    <a:srgbClr val="5487FF"/>
    <a:srgbClr val="F56300"/>
    <a:srgbClr val="00A19D"/>
    <a:srgbClr val="ED357D"/>
    <a:srgbClr val="FAFAFA"/>
    <a:srgbClr val="3A1857"/>
    <a:srgbClr val="781C1C"/>
    <a:srgbClr val="57B444"/>
    <a:srgbClr val="9E1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86054"/>
  </p:normalViewPr>
  <p:slideViewPr>
    <p:cSldViewPr>
      <p:cViewPr varScale="1">
        <p:scale>
          <a:sx n="105" d="100"/>
          <a:sy n="105" d="100"/>
        </p:scale>
        <p:origin x="8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6" d="100"/>
          <a:sy n="146" d="100"/>
        </p:scale>
        <p:origin x="414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customXml" Target="../customXml/item3.xml"/><Relationship Id="rId23" Type="http://schemas.openxmlformats.org/officeDocument/2006/relationships/customXml" Target="../customXml/item2.xml"/><Relationship Id="rId22" Type="http://schemas.openxmlformats.org/officeDocument/2006/relationships/customXml" Target="../customXml/item1.xml"/><Relationship Id="rId21" Type="http://schemas.openxmlformats.org/officeDocument/2006/relationships/font" Target="fonts/font4.fntdata"/><Relationship Id="rId20" Type="http://schemas.openxmlformats.org/officeDocument/2006/relationships/font" Target="fonts/font3.fntdata"/><Relationship Id="rId2" Type="http://schemas.openxmlformats.org/officeDocument/2006/relationships/theme" Target="theme/theme1.xml"/><Relationship Id="rId19" Type="http://schemas.openxmlformats.org/officeDocument/2006/relationships/font" Target="fonts/font2.fntdata"/><Relationship Id="rId18" Type="http://schemas.openxmlformats.org/officeDocument/2006/relationships/font" Target="fonts/font1.fntdata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1D93C3-F286-9C4B-98EC-FBB7F0C69BB5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A0B70-CCF2-4444-BE01-B320D9CE5A4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8A70A-88C5-8F48-B495-07492CFAC4E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Cover title slide layout features a full background image with a main heading positioned in the top left corner on a dark purple panel. The presenters’ names and the date sit beneath the title. The UCL logo is placed in the bottom right corner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with a headline at the top left, followed by text box beneath it.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slide full image with full colour logo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BC158-BB56-D04E-8DE4-3CEB786515BF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 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full name logo -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4473756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981780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pic>
        <p:nvPicPr>
          <p:cNvPr id="9" name="Picture 8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Title  - Faculty, School Department 2/3 line heading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303463" y="3627624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2303463" y="4135648"/>
            <a:ext cx="6485967" cy="36132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18pt</a:t>
            </a:r>
            <a:endParaRPr lang="en-GB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2273719" y="5854933"/>
            <a:ext cx="6240809" cy="58278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Type in your faculty/department/unit name here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1455" y="5661248"/>
            <a:ext cx="2844805" cy="798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Title -2-3 line heading an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/>
          <p:cNvSpPr>
            <a:spLocks noGrp="1"/>
          </p:cNvSpPr>
          <p:nvPr>
            <p:ph type="pic" idx="13"/>
          </p:nvPr>
        </p:nvSpPr>
        <p:spPr>
          <a:xfrm>
            <a:off x="1354138" y="2852936"/>
            <a:ext cx="10837862" cy="4005064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303463" y="409575"/>
            <a:ext cx="7084422" cy="197467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2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Main Headline style slide UCL Sans </a:t>
            </a:r>
            <a:r>
              <a:rPr lang="en-GB" dirty="0" err="1"/>
              <a:t>SemiBold</a:t>
            </a:r>
            <a:r>
              <a:rPr lang="en-GB" dirty="0"/>
              <a:t> 42pt </a:t>
            </a:r>
            <a:br>
              <a:rPr lang="en-GB" dirty="0"/>
            </a:br>
            <a:r>
              <a:rPr lang="en-GB" dirty="0"/>
              <a:t>2-3 lines max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35413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UCL logo, University College London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1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5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9575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409575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5145088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Divider2 – 1 column title, subheading,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73596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Divider section Title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735960" y="2422525"/>
            <a:ext cx="3757703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Subheading, UCL Sans Regular 24pt</a:t>
            </a:r>
            <a:endParaRPr lang="en-GB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5735960" y="4510352"/>
            <a:ext cx="3757703" cy="93477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idx="10"/>
          </p:nvPr>
        </p:nvSpPr>
        <p:spPr>
          <a:xfrm>
            <a:off x="0" y="20073"/>
            <a:ext cx="47386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subheading,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7583834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Content Placeholder"/>
          <p:cNvSpPr>
            <a:spLocks noGrp="1"/>
          </p:cNvSpPr>
          <p:nvPr>
            <p:ph idx="1" hasCustomPrompt="1"/>
          </p:nvPr>
        </p:nvSpPr>
        <p:spPr>
          <a:xfrm>
            <a:off x="418539" y="1916826"/>
            <a:ext cx="7572936" cy="3758834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/>
            <a:r>
              <a:rPr lang="en-GB" dirty="0"/>
              <a:t>Space for graphs, images, charts, videos</a:t>
            </a:r>
            <a:endParaRPr lang="en-GB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subheading charts, images, graph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09575" y="421180"/>
            <a:ext cx="4735513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446080" y="2422525"/>
            <a:ext cx="4686360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13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1 column title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1819" y="409575"/>
            <a:ext cx="7550693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40783" y="1916825"/>
            <a:ext cx="7550692" cy="3528300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subheading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8745" y="409575"/>
            <a:ext cx="7572730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27709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400">
                <a:solidFill>
                  <a:schemeClr val="accent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Subheading text style, UCL Sans regular 24pt</a:t>
            </a:r>
            <a:endParaRPr lang="en-GB" dirty="0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670235" y="1916825"/>
            <a:ext cx="3321240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tx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8" name="Picture 7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 and 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09576" y="409575"/>
            <a:ext cx="3786188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br>
              <a:rPr lang="en-GB" dirty="0"/>
            </a:b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409575"/>
            <a:ext cx="6627019" cy="1006475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UCL Sans Regular 18pt</a:t>
            </a:r>
            <a:endParaRPr lang="en-US" dirty="0"/>
          </a:p>
        </p:txBody>
      </p:sp>
      <p:pic>
        <p:nvPicPr>
          <p:cNvPr id="7" name="Picture 6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3 column title and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531" y="409575"/>
            <a:ext cx="3797231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6981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8937625" y="409575"/>
            <a:ext cx="2840039" cy="1291233"/>
          </a:xfrm>
          <a:prstGeom prst="rect">
            <a:avLst/>
          </a:prstGeom>
        </p:spPr>
        <p:txBody>
          <a:bodyPr/>
          <a:lstStyle>
            <a:lvl1pPr>
              <a:buFont typeface="Wingdings" panose="05000000000000000000" pitchFamily="2" charset="2"/>
              <a:buChar char="§"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Bullet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Divider – 2 column title, subheading, text, table,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2940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92940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 descr="Add a clear, concise statement describing the figures presented in the table"/>
          <p:cNvSpPr>
            <a:spLocks noGrp="1" noRot="1" noMove="1" noResize="1" noEditPoints="1" noAdjustHandles="1" noChangeArrowheads="1" noChangeShapeType="1"/>
          </p:cNvSpPr>
          <p:nvPr>
            <p:ph type="tbl" sz="quarter" idx="12" hasCustomPrompt="1"/>
          </p:nvPr>
        </p:nvSpPr>
        <p:spPr>
          <a:xfrm>
            <a:off x="392940" y="3619500"/>
            <a:ext cx="2841625" cy="2828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4411004" y="826261"/>
            <a:ext cx="7369833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Body 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4411005" y="1419226"/>
            <a:ext cx="73714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pic>
        <p:nvPicPr>
          <p:cNvPr id="3" name="Picture 2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2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5516672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56600" y="4438650"/>
            <a:ext cx="5516637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282387" y="2046440"/>
            <a:ext cx="5516673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282388" y="4438650"/>
            <a:ext cx="5494895" cy="10064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6" name="Picture 5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mple_Content – Title - 2 column 1 image 1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6564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56564" y="2046440"/>
            <a:ext cx="4429696" cy="3398685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53818" y="2046440"/>
            <a:ext cx="6627019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– full page image full colou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Content – 4 column title, image,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 noRot="1" noMove="1" noResize="1" noEditPoints="1" noAdjustHandles="1" noChangeArrowheads="1" noChangeShapeType="1"/>
          </p:cNvSpPr>
          <p:nvPr>
            <p:ph type="body" sz="quarter" idx="15" hasCustomPrompt="1"/>
          </p:nvPr>
        </p:nvSpPr>
        <p:spPr>
          <a:xfrm>
            <a:off x="434508" y="409575"/>
            <a:ext cx="8569680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434507" y="2145327"/>
            <a:ext cx="2717527" cy="174819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2" name="Text Placeholder 3"/>
          <p:cNvSpPr>
            <a:spLocks noGrp="1"/>
          </p:cNvSpPr>
          <p:nvPr>
            <p:ph type="body" sz="half" idx="25" hasCustomPrompt="1"/>
          </p:nvPr>
        </p:nvSpPr>
        <p:spPr>
          <a:xfrm>
            <a:off x="434508" y="4087765"/>
            <a:ext cx="27175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3481193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6" hasCustomPrompt="1"/>
          </p:nvPr>
        </p:nvSpPr>
        <p:spPr>
          <a:xfrm>
            <a:off x="3454053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349679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5" name="Text Placeholder 3"/>
          <p:cNvSpPr>
            <a:spLocks noGrp="1"/>
          </p:cNvSpPr>
          <p:nvPr>
            <p:ph type="body" sz="half" idx="27" hasCustomPrompt="1"/>
          </p:nvPr>
        </p:nvSpPr>
        <p:spPr>
          <a:xfrm>
            <a:off x="6336110" y="4087765"/>
            <a:ext cx="2580038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218166" y="2145327"/>
            <a:ext cx="2539327" cy="1748196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8" hasCustomPrompt="1"/>
          </p:nvPr>
        </p:nvSpPr>
        <p:spPr>
          <a:xfrm>
            <a:off x="9218166" y="4087765"/>
            <a:ext cx="2539326" cy="13779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18pt</a:t>
            </a:r>
            <a:endParaRPr lang="en-GB" dirty="0"/>
          </a:p>
        </p:txBody>
      </p:sp>
      <p:pic>
        <p:nvPicPr>
          <p:cNvPr id="3" name="Picture 2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_Title  - 2/3 line heading,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 noRot="1" noMove="1" noResize="1" noEditPoints="1" noAdjustHandles="1" noChangeArrowheads="1" noChangeShapeType="1"/>
          </p:cNvSpPr>
          <p:nvPr>
            <p:ph type="pic" idx="10" hasCustomPrompt="1"/>
          </p:nvPr>
        </p:nvSpPr>
        <p:spPr>
          <a:xfrm>
            <a:off x="-7474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100"/>
            </a:lvl1pPr>
            <a:lvl2pPr marL="457200" indent="0">
              <a:buNone/>
              <a:defRPr sz="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dirty="0"/>
              <a:t>Insert and image</a:t>
            </a:r>
            <a:endParaRPr lang="en-US" dirty="0"/>
          </a:p>
        </p:txBody>
      </p:sp>
      <p:pic>
        <p:nvPicPr>
          <p:cNvPr id="2" name="Picture 1" descr="UCL logo, University College London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1401472" y="1"/>
            <a:ext cx="5633204" cy="6858000"/>
          </a:xfrm>
          <a:prstGeom prst="rect">
            <a:avLst/>
          </a:prstGeom>
          <a:solidFill>
            <a:schemeClr val="accent1"/>
          </a:solidFill>
        </p:spPr>
        <p:txBody>
          <a:bodyPr lIns="360000" tIns="360000" rIns="360000" bIns="36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200" b="1" i="0">
                <a:solidFill>
                  <a:schemeClr val="accent3"/>
                </a:solidFill>
                <a:latin typeface="UCL Sans SemiBold" pitchFamily="2" charset="77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GB" sz="4200" dirty="0">
                <a:solidFill>
                  <a:schemeClr val="accent3"/>
                </a:solidFill>
              </a:rPr>
              <a:t>Main Headline style slide UCL Sans </a:t>
            </a:r>
            <a:r>
              <a:rPr lang="en-GB" sz="4200" dirty="0" err="1">
                <a:solidFill>
                  <a:schemeClr val="accent3"/>
                </a:solidFill>
              </a:rPr>
              <a:t>SemiBold</a:t>
            </a:r>
            <a:r>
              <a:rPr lang="en-GB" sz="4200" dirty="0">
                <a:solidFill>
                  <a:schemeClr val="accent3"/>
                </a:solidFill>
              </a:rPr>
              <a:t> 42pt 2-3 lines max</a:t>
            </a:r>
            <a:endParaRPr lang="en-US" sz="4200" dirty="0">
              <a:solidFill>
                <a:schemeClr val="accent3"/>
              </a:solidFill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791890" y="3455778"/>
            <a:ext cx="4807745" cy="70770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Names of Presenters,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1791889" y="4503309"/>
            <a:ext cx="4807745" cy="26504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Date, UCL Sans regular 18px</a:t>
            </a:r>
            <a:endParaRPr lang="en-GB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8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1 column title and tex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36124" y="409575"/>
            <a:ext cx="6604548" cy="100965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Divider section Title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136124" y="1916825"/>
            <a:ext cx="6604547" cy="35283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5" name="Rectangle 4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54138" y="0"/>
            <a:ext cx="18923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535" y="2448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 Divider – 2 column title, text, table,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3757703" cy="183029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82624" y="2422525"/>
            <a:ext cx="3729218" cy="10064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Subtitle, UCL Sans Regular 24pt</a:t>
            </a:r>
            <a:endParaRPr lang="en-GB" dirty="0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2"/>
          </p:nvPr>
        </p:nvSpPr>
        <p:spPr>
          <a:xfrm>
            <a:off x="1354139" y="3558615"/>
            <a:ext cx="2668022" cy="28289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5" hasCustomPrompt="1"/>
          </p:nvPr>
        </p:nvSpPr>
        <p:spPr>
          <a:xfrm>
            <a:off x="5272740" y="882638"/>
            <a:ext cx="6508098" cy="41224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accent3"/>
                </a:solidFill>
                <a:latin typeface="UCL Sa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dirty="0"/>
              <a:t>Text, UCL Sans Regular 18pt</a:t>
            </a:r>
            <a:endParaRPr lang="en-GB" dirty="0"/>
          </a:p>
        </p:txBody>
      </p:sp>
      <p:sp>
        <p:nvSpPr>
          <p:cNvPr id="6" name="Picture Placeholder 2" descr="Add a clear, concise statement describing the main purpose of the image"/>
          <p:cNvSpPr>
            <a:spLocks noGrp="1"/>
          </p:cNvSpPr>
          <p:nvPr>
            <p:ph type="pic" idx="10"/>
          </p:nvPr>
        </p:nvSpPr>
        <p:spPr>
          <a:xfrm>
            <a:off x="5275105" y="1419226"/>
            <a:ext cx="6507320" cy="44063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8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353402" y="4438650"/>
            <a:ext cx="5070914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8" name="Picture Placeholder 6" descr="Add a clear, concise statement describing the main purpose of the image"/>
          <p:cNvSpPr>
            <a:spLocks noGrp="1"/>
          </p:cNvSpPr>
          <p:nvPr>
            <p:ph type="pic" sz="quarter" idx="14"/>
          </p:nvPr>
        </p:nvSpPr>
        <p:spPr>
          <a:xfrm>
            <a:off x="6686368" y="2046440"/>
            <a:ext cx="5070914" cy="216043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686367" y="4438650"/>
            <a:ext cx="5049033" cy="1006475"/>
          </a:xfrm>
          <a:prstGeom prst="rect">
            <a:avLst/>
          </a:prstGeom>
        </p:spPr>
        <p:txBody>
          <a:bodyPr/>
          <a:lstStyle>
            <a:lvl1pPr marL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lex _Content – 2 column 1 title, 2 images, 2 tex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1343450" y="409575"/>
            <a:ext cx="5965287" cy="1242244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Headline </a:t>
            </a:r>
            <a:br>
              <a:rPr lang="en-GB" dirty="0"/>
            </a:br>
            <a:r>
              <a:rPr lang="en-GB" dirty="0"/>
              <a:t>UCL Sans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10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43449" y="2046440"/>
            <a:ext cx="4502211" cy="339868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2046440"/>
            <a:ext cx="5684838" cy="339868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None/>
              <a:defRPr sz="1800"/>
            </a:lvl1pPr>
            <a:lvl2pPr>
              <a:buFont typeface="Wingdings" panose="05000000000000000000" pitchFamily="2" charset="2"/>
              <a:buChar char="§"/>
              <a:defRPr sz="1800"/>
            </a:lvl2pPr>
            <a:lvl3pPr>
              <a:buFont typeface="Wingdings" panose="05000000000000000000" pitchFamily="2" charset="2"/>
              <a:buChar char="§"/>
              <a:defRPr sz="1800"/>
            </a:lvl3pPr>
            <a:lvl4pPr>
              <a:buFont typeface="Wingdings" panose="05000000000000000000" pitchFamily="2" charset="2"/>
              <a:buChar char="§"/>
              <a:defRPr sz="1800"/>
            </a:lvl4pPr>
            <a:lvl5pP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GB" dirty="0"/>
              <a:t>Body text, </a:t>
            </a:r>
            <a:endParaRPr lang="en-GB" dirty="0"/>
          </a:p>
          <a:p>
            <a:pPr lvl="0"/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4 column title, 4 images, 4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/>
          <p:cNvSpPr>
            <a:spLocks noGrp="1"/>
          </p:cNvSpPr>
          <p:nvPr>
            <p:ph type="body" sz="quarter" idx="15" hasCustomPrompt="1"/>
          </p:nvPr>
        </p:nvSpPr>
        <p:spPr>
          <a:xfrm>
            <a:off x="1354138" y="409575"/>
            <a:ext cx="8569680" cy="13779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</a:t>
            </a:r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7" name="Picture Placeholder 6" descr="Add a clear, concise statement describing the main purpose of the image"/>
          <p:cNvSpPr>
            <a:spLocks noGrp="1"/>
          </p:cNvSpPr>
          <p:nvPr>
            <p:ph type="pic" sz="quarter" idx="13"/>
          </p:nvPr>
        </p:nvSpPr>
        <p:spPr>
          <a:xfrm>
            <a:off x="1354136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354135" y="4204795"/>
            <a:ext cx="2438375" cy="1242244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 sz="1800" b="0" i="0">
                <a:solidFill>
                  <a:schemeClr val="tx2"/>
                </a:solidFill>
                <a:latin typeface="UCL Sans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GB" dirty="0"/>
          </a:p>
        </p:txBody>
      </p:sp>
      <p:sp>
        <p:nvSpPr>
          <p:cNvPr id="28" name="Picture Placeholder 6" descr="Add a clear, concise statement describing the main purpose of the image"/>
          <p:cNvSpPr>
            <a:spLocks noGrp="1"/>
          </p:cNvSpPr>
          <p:nvPr>
            <p:ph type="pic" sz="quarter" idx="16"/>
          </p:nvPr>
        </p:nvSpPr>
        <p:spPr>
          <a:xfrm>
            <a:off x="4014597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sz="quarter" idx="17" hasCustomPrompt="1"/>
          </p:nvPr>
        </p:nvSpPr>
        <p:spPr>
          <a:xfrm>
            <a:off x="4014597" y="4204795"/>
            <a:ext cx="2445318" cy="12689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5" name="Picture Placeholder 6" descr="Add a clear, concise statement describing the main purpose of the image"/>
          <p:cNvSpPr>
            <a:spLocks noGrp="1"/>
          </p:cNvSpPr>
          <p:nvPr>
            <p:ph type="pic" sz="quarter" idx="20"/>
          </p:nvPr>
        </p:nvSpPr>
        <p:spPr>
          <a:xfrm>
            <a:off x="6675058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8" hasCustomPrompt="1"/>
          </p:nvPr>
        </p:nvSpPr>
        <p:spPr>
          <a:xfrm>
            <a:off x="6675058" y="4204795"/>
            <a:ext cx="2426413" cy="124224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36" name="Picture Placeholder 6" descr="Add a clear, concise statement describing the main purpose of the image"/>
          <p:cNvSpPr>
            <a:spLocks noGrp="1"/>
          </p:cNvSpPr>
          <p:nvPr>
            <p:ph type="pic" sz="quarter" idx="21"/>
          </p:nvPr>
        </p:nvSpPr>
        <p:spPr>
          <a:xfrm>
            <a:off x="9335520" y="2185495"/>
            <a:ext cx="2445318" cy="174819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9" hasCustomPrompt="1"/>
          </p:nvPr>
        </p:nvSpPr>
        <p:spPr>
          <a:xfrm>
            <a:off x="9320932" y="4204795"/>
            <a:ext cx="2459905" cy="12668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UCL Sans" pitchFamily="2" charset="77"/>
              </a:defRPr>
            </a:lvl1pPr>
            <a:lvl2pPr>
              <a:buNone/>
              <a:defRPr sz="1200" b="0" i="0">
                <a:latin typeface="UCL Sans" pitchFamily="2" charset="77"/>
              </a:defRPr>
            </a:lvl2pPr>
            <a:lvl3pPr>
              <a:buNone/>
              <a:defRPr sz="1200" b="0" i="0">
                <a:latin typeface="UCL Sans" pitchFamily="2" charset="77"/>
              </a:defRPr>
            </a:lvl3pPr>
            <a:lvl4pPr>
              <a:buNone/>
              <a:defRPr sz="1200" b="0" i="0">
                <a:latin typeface="UCL Sans" pitchFamily="2" charset="77"/>
              </a:defRPr>
            </a:lvl4pPr>
            <a:lvl5pPr>
              <a:buNone/>
              <a:defRPr sz="1200" b="0" i="0">
                <a:latin typeface="UCL Sans" pitchFamily="2" charset="77"/>
              </a:defRPr>
            </a:lvl5pPr>
          </a:lstStyle>
          <a:p>
            <a:pPr lvl="0"/>
            <a:r>
              <a:rPr lang="en-GB" dirty="0"/>
              <a:t>Body text, </a:t>
            </a:r>
            <a:br>
              <a:rPr lang="en-GB" dirty="0"/>
            </a:br>
            <a:r>
              <a:rPr lang="en-GB" dirty="0"/>
              <a:t>UCL Sans Regular 18pt</a:t>
            </a:r>
            <a:endParaRPr lang="en-US" dirty="0"/>
          </a:p>
        </p:txBody>
      </p:sp>
      <p:sp>
        <p:nvSpPr>
          <p:cNvPr id="4" name="Rectangle 3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-11993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lex _Content – 2 column title, 1 subheading, 2 image/graph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354139" y="421180"/>
            <a:ext cx="4303112" cy="15609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i="0">
                <a:solidFill>
                  <a:schemeClr val="accent1"/>
                </a:solidFill>
                <a:latin typeface="UCL Sans SemiBold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Headline </a:t>
            </a:r>
            <a:endParaRPr lang="en-GB" dirty="0"/>
          </a:p>
          <a:p>
            <a:pPr lvl="0"/>
            <a:r>
              <a:rPr lang="en-GB" dirty="0"/>
              <a:t>UCL Sans </a:t>
            </a:r>
            <a:endParaRPr lang="en-GB" dirty="0"/>
          </a:p>
          <a:p>
            <a:pPr lvl="0"/>
            <a:r>
              <a:rPr lang="en-GB" dirty="0" err="1"/>
              <a:t>SemiBold</a:t>
            </a:r>
            <a:r>
              <a:rPr lang="en-GB" dirty="0"/>
              <a:t> 36pt</a:t>
            </a:r>
            <a:endParaRPr lang="en-GB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6096001" y="419192"/>
            <a:ext cx="5684838" cy="112850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accent1"/>
                </a:solidFill>
                <a:latin typeface="UCL Sans" pitchFamily="2" charset="7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Subheading text style, </a:t>
            </a:r>
            <a:endParaRPr lang="en-GB" dirty="0"/>
          </a:p>
          <a:p>
            <a:pPr lvl="0"/>
            <a:r>
              <a:rPr lang="en-GB" dirty="0"/>
              <a:t>UCL Sans regular 24pt</a:t>
            </a:r>
            <a:endParaRPr lang="en-GB" dirty="0"/>
          </a:p>
        </p:txBody>
      </p:sp>
      <p:sp>
        <p:nvSpPr>
          <p:cNvPr id="6" name="Content Placeholder 3"/>
          <p:cNvSpPr>
            <a:spLocks noGrp="1"/>
          </p:cNvSpPr>
          <p:nvPr>
            <p:ph sz="half" idx="1" hasCustomPrompt="1"/>
          </p:nvPr>
        </p:nvSpPr>
        <p:spPr>
          <a:xfrm>
            <a:off x="1354138" y="2422525"/>
            <a:ext cx="4303112" cy="3022601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</p:txBody>
      </p:sp>
      <p:sp>
        <p:nvSpPr>
          <p:cNvPr id="7" name="Content Placeholder 5"/>
          <p:cNvSpPr>
            <a:spLocks noGrp="1"/>
          </p:cNvSpPr>
          <p:nvPr>
            <p:ph sz="half" idx="12" hasCustomPrompt="1"/>
          </p:nvPr>
        </p:nvSpPr>
        <p:spPr>
          <a:xfrm>
            <a:off x="6096000" y="2422525"/>
            <a:ext cx="5649921" cy="302260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 sz="18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r>
              <a:rPr lang="en-GB" dirty="0"/>
              <a:t>Space for graphs, images, charts</a:t>
            </a:r>
            <a:endParaRPr lang="en-US" dirty="0"/>
          </a:p>
          <a:p>
            <a:endParaRPr lang="en-US" dirty="0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– full page image whit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 descr="Add a clear, concise statement describing the main purpose of the image"/>
          <p:cNvSpPr>
            <a:spLocks noGrp="1" noRot="1" noMove="1" noResize="1" noEditPoints="1" noAdjustHandles="1" noChangeArrowheads="1" noChangeShapeType="1"/>
          </p:cNvSpPr>
          <p:nvPr>
            <p:ph type="pic" sz="quarter" idx="13"/>
          </p:nvPr>
        </p:nvSpPr>
        <p:spPr>
          <a:xfrm>
            <a:off x="391438" y="0"/>
            <a:ext cx="1180056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8137" y="0"/>
            <a:ext cx="40957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60890" y="6067187"/>
            <a:ext cx="1432605" cy="402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/>
              <a:t>Click to edit Master text styles</a:t>
            </a:r>
            <a:endParaRPr lang="en-GB" altLang="en-US"/>
          </a:p>
          <a:p>
            <a:pPr lvl="1"/>
            <a:r>
              <a:rPr lang="en-GB" altLang="en-US"/>
              <a:t>Second level</a:t>
            </a:r>
            <a:endParaRPr lang="en-GB" altLang="en-US"/>
          </a:p>
          <a:p>
            <a:pPr lvl="2"/>
            <a:r>
              <a:rPr lang="en-GB" altLang="en-US"/>
              <a:t>Third level</a:t>
            </a:r>
            <a:endParaRPr lang="en-GB" altLang="en-US"/>
          </a:p>
          <a:p>
            <a:pPr lvl="3"/>
            <a:r>
              <a:rPr lang="en-GB" altLang="en-US"/>
              <a:t>Fourth level</a:t>
            </a:r>
            <a:endParaRPr lang="en-GB" altLang="en-US"/>
          </a:p>
          <a:p>
            <a:pPr lvl="4"/>
            <a:r>
              <a:rPr lang="en-GB" altLang="en-US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GB" altLang="en-US"/>
              <a:t>Click to edit Master title style</a:t>
            </a:r>
            <a:endParaRPr lang="en-US" altLang="en-US"/>
          </a:p>
        </p:txBody>
      </p:sp>
      <p:sp>
        <p:nvSpPr>
          <p:cNvPr id="3" name="Text Placeholder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GB" altLang="en-US" dirty="0"/>
              <a:t>Click to edit Master text styles</a:t>
            </a:r>
            <a:endParaRPr lang="en-GB" altLang="en-US" dirty="0"/>
          </a:p>
          <a:p>
            <a:pPr lvl="1"/>
            <a:r>
              <a:rPr lang="en-GB" altLang="en-US" dirty="0"/>
              <a:t>Second level</a:t>
            </a:r>
            <a:endParaRPr lang="en-GB" altLang="en-US" dirty="0"/>
          </a:p>
          <a:p>
            <a:pPr lvl="2"/>
            <a:r>
              <a:rPr lang="en-GB" altLang="en-US" dirty="0"/>
              <a:t>Third level</a:t>
            </a:r>
            <a:endParaRPr lang="en-GB" altLang="en-US" dirty="0"/>
          </a:p>
          <a:p>
            <a:pPr lvl="3"/>
            <a:r>
              <a:rPr lang="en-GB" altLang="en-US" dirty="0"/>
              <a:t>Fourth level</a:t>
            </a:r>
            <a:endParaRPr lang="en-GB" altLang="en-US" dirty="0"/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tx1"/>
          </a:solidFill>
          <a:latin typeface="UCL Sans SemiBold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UCL Sans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UCL Sans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UCL Sans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UCL Sans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emf"/><Relationship Id="rId1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1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 descr="A couple of women standing on a balcony&#10;&#10;AI-generated content may be incorrect."/>
          <p:cNvPicPr>
            <a:picLocks noGrp="1" noChangeAspect="1"/>
          </p:cNvPicPr>
          <p:nvPr>
            <p:ph type="pic" idx="10"/>
          </p:nvPr>
        </p:nvPicPr>
        <p:blipFill>
          <a:blip r:embed="rId1"/>
          <a:srcRect t="7813" b="7813"/>
          <a:stretch>
            <a:fillRect/>
          </a:stretch>
        </p:blipFill>
        <p:spPr>
          <a:xfrm>
            <a:off x="-1588" y="0"/>
            <a:ext cx="12192001" cy="6858000"/>
          </a:xfrm>
        </p:spPr>
      </p:pic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en-US"/>
              <a:t>Teaching a Self-</a:t>
            </a:r>
            <a:endParaRPr lang="en-US" altLang="en-US"/>
          </a:p>
          <a:p>
            <a:r>
              <a:rPr lang="en-US" altLang="en-US"/>
              <a:t>Driving Car to</a:t>
            </a:r>
            <a:endParaRPr lang="en-US" altLang="en-US"/>
          </a:p>
          <a:p>
            <a:r>
              <a:rPr lang="en-US" altLang="en-US"/>
              <a:t>Cross Safely​</a:t>
            </a:r>
            <a:endParaRPr lang="en-US" altLang="en-US"/>
          </a:p>
        </p:txBody>
      </p:sp>
      <p:sp>
        <p:nvSpPr>
          <p:cNvPr id="9" name="Rectangle 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034676" y="4532"/>
            <a:ext cx="470692" cy="68534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Jiaqi Xie</a:t>
            </a:r>
            <a:endParaRPr lang="en-US" altLang="en-GB">
              <a:latin typeface="UCL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altLang="en-GB">
                <a:latin typeface="UCL Sans"/>
              </a:rPr>
              <a:t>25027138</a:t>
            </a:r>
            <a:endParaRPr lang="en-US" altLang="en-GB">
              <a:latin typeface="UCL Sans"/>
            </a:endParaRPr>
          </a:p>
        </p:txBody>
      </p:sp>
      <p:pic>
        <p:nvPicPr>
          <p:cNvPr id="4" name="Picture 3" descr="UCL logo, University College Lond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625" y="5653541"/>
            <a:ext cx="2843213" cy="798059"/>
          </a:xfrm>
          <a:prstGeom prst="rect">
            <a:avLst/>
          </a:prstGeom>
        </p:spPr>
      </p:pic>
      <p:sp>
        <p:nvSpPr>
          <p:cNvPr id="8" name="Rectangle 7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87" y="0"/>
            <a:ext cx="4095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Area of research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440690" y="1127760"/>
            <a:ext cx="5827395" cy="3528060"/>
          </a:xfrm>
        </p:spPr>
        <p:txBody>
          <a:bodyPr/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rPr sz="1800">
                <a:sym typeface="+mn-ea"/>
              </a:rPr>
              <a:t>Safe decision-making for self-driving cars at intersections</a:t>
            </a:r>
            <a:endParaRPr sz="1800">
              <a:sym typeface="+mn-ea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GB"/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sz="1800">
                <a:sym typeface="+mn-ea"/>
              </a:rPr>
              <a:t>A self-driving car must decide what to do next.</a:t>
            </a:r>
            <a:r>
              <a:rPr lang="en-US" sz="1800">
                <a:sym typeface="+mn-ea"/>
              </a:rPr>
              <a:t> </a:t>
            </a:r>
            <a:r>
              <a:rPr sz="1800">
                <a:sym typeface="+mn-ea"/>
              </a:rPr>
              <a:t>Other cars may move in more than one possible way.</a:t>
            </a:r>
            <a:endParaRPr sz="1800">
              <a:sym typeface="+mn-ea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r>
              <a:rPr sz="1800">
                <a:solidFill>
                  <a:srgbClr val="111827"/>
                </a:solidFill>
                <a:sym typeface="+mn-ea"/>
              </a:rPr>
              <a:t>In simple words, I am studying how a car can cross a busy junction without being too brave or too scared. The car should move forward, but only when the possible futures of nearby cars look safe enough.</a:t>
            </a:r>
            <a:endParaRPr sz="1800">
              <a:solidFill>
                <a:srgbClr val="111827"/>
              </a:solidFill>
              <a:sym typeface="+mn-ea"/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>
              <a:solidFill>
                <a:srgbClr val="111827"/>
              </a:solidFill>
            </a:endParaRPr>
          </a:p>
          <a:p>
            <a:pPr>
              <a:defRPr sz="1500">
                <a:solidFill>
                  <a:srgbClr val="4B5563"/>
                </a:solidFill>
              </a:defRPr>
            </a:pPr>
            <a:endParaRPr lang="en-GB"/>
          </a:p>
        </p:txBody>
      </p:sp>
      <p:sp>
        <p:nvSpPr>
          <p:cNvPr id="17" name="Rounded Rectangle 16"/>
          <p:cNvSpPr/>
          <p:nvPr/>
        </p:nvSpPr>
        <p:spPr>
          <a:xfrm>
            <a:off x="868680" y="5289550"/>
            <a:ext cx="475488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Like crossing a road: look, think, then move.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3491" y="1417320"/>
            <a:ext cx="1126540" cy="440375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3055924"/>
            <a:ext cx="4403750" cy="112654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88505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10220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31936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53651" y="3588471"/>
            <a:ext cx="460857" cy="51206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44537" y="3363163"/>
            <a:ext cx="798819" cy="409651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31936" y="1929384"/>
            <a:ext cx="563270" cy="56327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87968" y="2492654"/>
            <a:ext cx="0" cy="972922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87968" y="2492654"/>
            <a:ext cx="0" cy="1433779"/>
          </a:xfrm>
          <a:prstGeom prst="line">
            <a:avLst/>
          </a:prstGeom>
          <a:ln w="254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87968" y="2492654"/>
            <a:ext cx="0" cy="1894637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7083425" y="3543300"/>
            <a:ext cx="1652270" cy="1998345"/>
          </a:xfrm>
          <a:prstGeom prst="arc">
            <a:avLst/>
          </a:prstGeom>
          <a:noFill/>
          <a:ln>
            <a:solidFill>
              <a:srgbClr val="C00000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Problem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783" y="1196100"/>
            <a:ext cx="7239393" cy="3528300"/>
          </a:xfrm>
        </p:spPr>
        <p:txBody>
          <a:bodyPr/>
          <a:lstStyle/>
          <a:p>
            <a:r>
              <a:rPr>
                <a:solidFill>
                  <a:srgbClr val="111827"/>
                </a:solidFill>
                <a:sym typeface="+mn-ea"/>
              </a:rPr>
              <a:t>One guess is not enough</a:t>
            </a:r>
            <a:endParaRPr>
              <a:solidFill>
                <a:srgbClr val="111827"/>
              </a:solidFill>
              <a:sym typeface="+mn-ea"/>
            </a:endParaRPr>
          </a:p>
          <a:p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1076960" y="2052320"/>
            <a:ext cx="4297680" cy="50292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One guessed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2760" y="287528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37080" y="299415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5840" y="299415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0200" y="3177032"/>
            <a:ext cx="731520" cy="0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25600" y="388112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DC2626"/>
                </a:solidFill>
              </a:defRPr>
            </a:pPr>
            <a:r>
              <a:t>Too confident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4800" y="2052320"/>
            <a:ext cx="4297680" cy="50292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700" b="1">
                <a:solidFill>
                  <a:srgbClr val="172554"/>
                </a:solidFill>
              </a:defRPr>
            </a:pPr>
            <a:r>
              <a:t>Several possible futures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40600" y="2875280"/>
            <a:ext cx="2834640" cy="658368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4920" y="2994152"/>
            <a:ext cx="82296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23680" y="2994152"/>
            <a:ext cx="594360" cy="384048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TV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9718040" y="2646680"/>
            <a:ext cx="685800" cy="53035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18040" y="3177032"/>
            <a:ext cx="777240" cy="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18040" y="3177032"/>
            <a:ext cx="685800" cy="521208"/>
          </a:xfrm>
          <a:prstGeom prst="line">
            <a:avLst/>
          </a:prstGeom>
          <a:ln w="381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77760" y="3881120"/>
            <a:ext cx="31089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t>More careful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491480"/>
            <a:ext cx="859536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rPr b="0">
                <a:solidFill>
                  <a:srgbClr val="111827"/>
                </a:solidFill>
                <a:latin typeface="UCL Sans" pitchFamily="2" charset="77"/>
              </a:rPr>
              <a:t>The challenge: choose a move that is safe for many possible futures.</a:t>
            </a:r>
            <a:endParaRPr b="0">
              <a:solidFill>
                <a:srgbClr val="111827"/>
              </a:solidFill>
              <a:latin typeface="UCL Sans" pitchFamily="2" charset="77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14400" y="4384040"/>
            <a:ext cx="10241280" cy="86868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The problem is uncertainty. If the self-driving car only trusts one guessed path, it may make a risky decision. A safer car should think about several possible futures, just like a person checks both directions before crossing a road.</a:t>
            </a:r>
            <a:endParaRPr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Significance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40783" y="1154825"/>
            <a:ext cx="7239393" cy="3528300"/>
          </a:xfrm>
        </p:spPr>
        <p:txBody>
          <a:bodyPr/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rPr sz="1800">
                <a:sym typeface="+mn-ea"/>
              </a:rPr>
              <a:t>A good car should be safe, not stuck, and not uncomfortable</a:t>
            </a:r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1097280" y="1828800"/>
            <a:ext cx="2560320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828800"/>
            <a:ext cx="2560320" cy="10972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Keep moving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828800"/>
            <a:ext cx="2560320" cy="109728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>
              <a:defRPr sz="2800" b="1">
                <a:solidFill>
                  <a:srgbClr val="172554"/>
                </a:solidFill>
              </a:defRPr>
            </a:pPr>
            <a:r>
              <a:t>Smooth 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174999"/>
            <a:ext cx="9601200" cy="115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Too brave: possible crash.</a:t>
            </a:r>
            <a:endParaRPr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Too scared: the car may stop and block traffic.</a:t>
            </a:r>
            <a:endParaRPr sz="1800">
              <a:latin typeface="UCL Sans" pitchFamily="2" charset="77"/>
            </a:endParaRPr>
          </a:p>
          <a:p>
            <a:pPr marL="0">
              <a:spcAft>
                <a:spcPts val="900"/>
              </a:spcAft>
              <a:defRPr sz="22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Too rough: passengers feel uncomfortable.</a:t>
            </a:r>
            <a:endParaRPr sz="1800">
              <a:latin typeface="UCL Sans" pitchFamily="2" charset="7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4800600"/>
            <a:ext cx="10058400" cy="86868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This matters because real junctions are busy and confusing. A good autonomous car must balance three simple goals: avoid danger, keep moving, and make the ride feel smooth for passengers.</a:t>
            </a:r>
            <a:endParaRPr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latin typeface="UCL Sans SemiBold"/>
              </a:rPr>
              <a:t>State of the art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297680" cy="1906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Some planners follow one predicted path.</a:t>
            </a:r>
            <a:endParaRPr sz="1800">
              <a:latin typeface="UCL Sans" pitchFamily="2" charset="77"/>
            </a:endParaRPr>
          </a:p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Learning models can show many possible futures.</a:t>
            </a:r>
            <a:endParaRPr sz="1800">
              <a:latin typeface="UCL Sans" pitchFamily="2" charset="77"/>
            </a:endParaRPr>
          </a:p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The hard part is using these futures safely.</a:t>
            </a:r>
            <a:endParaRPr sz="1800">
              <a:latin typeface="UCL Sans" pitchFamily="2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92240" y="1874519"/>
            <a:ext cx="4297680" cy="1076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Use several predicted futures.</a:t>
            </a:r>
            <a:endParaRPr sz="1800">
              <a:latin typeface="UCL Sans" pitchFamily="2" charset="77"/>
            </a:endParaRPr>
          </a:p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Give each future a safety budget.</a:t>
            </a:r>
            <a:endParaRPr sz="1800">
              <a:latin typeface="UCL Sans" pitchFamily="2" charset="77"/>
            </a:endParaRPr>
          </a:p>
          <a:p>
            <a:pPr>
              <a:spcAft>
                <a:spcPts val="600"/>
              </a:spcAft>
              <a:defRPr sz="17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Re-plan again at every step.</a:t>
            </a:r>
            <a:endParaRPr sz="1800">
              <a:latin typeface="UCL Sans" pitchFamily="2" charset="7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42645" y="4434840"/>
            <a:ext cx="10058400" cy="10058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I am trying to connect prediction and control. Instead of treating prediction as one fixed line, it lets the car see multiple possible futures and then uses a careful planner to choose an action that keeps risk low.</a:t>
            </a:r>
            <a:endParaRPr sz="1800">
              <a:latin typeface="UCL Sans" pitchFamily="2" charset="7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840480" cy="5029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72554"/>
                </a:solidFill>
              </a:defRPr>
            </a:pPr>
            <a:r>
              <a:t>What existing methods often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34440"/>
            <a:ext cx="3840480" cy="50292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72554"/>
                </a:solidFill>
              </a:defRPr>
            </a:pPr>
            <a:r>
              <a:t>P</a:t>
            </a:r>
            <a:r>
              <a:rPr lang="en-US"/>
              <a:t>roposed </a:t>
            </a:r>
            <a:r>
              <a:t>idea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Hypothesis</a:t>
            </a:r>
            <a:endParaRPr lang="en-US"/>
          </a:p>
        </p:txBody>
      </p:sp>
      <p:sp>
        <p:nvSpPr>
          <p:cNvPr id="4" name="Rounded Rectangle 3"/>
          <p:cNvSpPr/>
          <p:nvPr/>
        </p:nvSpPr>
        <p:spPr>
          <a:xfrm>
            <a:off x="822960" y="1143000"/>
            <a:ext cx="2926080" cy="54864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72554"/>
                </a:solidFill>
              </a:defRPr>
            </a:pPr>
            <a:r>
              <a:t>My test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9784080" cy="645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300" b="1">
                <a:solidFill>
                  <a:srgbClr val="172554"/>
                </a:solidFill>
              </a:defRPr>
            </a:pPr>
            <a:r>
              <a:rPr sz="1800" b="0">
                <a:solidFill>
                  <a:srgbClr val="111827"/>
                </a:solidFill>
                <a:latin typeface="UCL Sans" pitchFamily="2" charset="77"/>
              </a:rPr>
              <a:t>If the car plans with several possible futures, it should cross the junction more safely than a weaker planner.</a:t>
            </a:r>
            <a:endParaRPr sz="1800" b="0">
              <a:solidFill>
                <a:srgbClr val="111827"/>
              </a:solidFill>
              <a:latin typeface="UCL Sans" pitchFamily="2" charset="7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2682240"/>
            <a:ext cx="2926080" cy="50292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00" b="1">
                <a:solidFill>
                  <a:srgbClr val="172554"/>
                </a:solidFill>
              </a:defRPr>
            </a:pPr>
            <a:r>
              <a:t>How I test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68039"/>
            <a:ext cx="9875520" cy="721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11827"/>
                </a:solidFill>
              </a:defRPr>
            </a:pPr>
            <a:r>
              <a:rPr>
                <a:latin typeface="UCL Sans" pitchFamily="2" charset="77"/>
              </a:rPr>
              <a:t>Compare the main careful planner with simpler baselines.</a:t>
            </a:r>
            <a:endParaRPr>
              <a:latin typeface="UCL Sans" pitchFamily="2" charset="77"/>
            </a:endParaRPr>
          </a:p>
          <a:p>
            <a:pPr>
              <a:spcAft>
                <a:spcPts val="600"/>
              </a:spcAft>
              <a:defRPr sz="1800">
                <a:solidFill>
                  <a:srgbClr val="111827"/>
                </a:solidFill>
              </a:defRPr>
            </a:pPr>
            <a:r>
              <a:rPr>
                <a:latin typeface="UCL Sans" pitchFamily="2" charset="77"/>
              </a:rPr>
              <a:t>Measure whether the car finishes, keeps distance, and moves smoothly.</a:t>
            </a:r>
            <a:endParaRPr>
              <a:latin typeface="UCL Sans" pitchFamily="2" charset="7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5800" y="45923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Scenario</a:t>
            </a:r>
          </a:p>
        </p:txBody>
      </p:sp>
      <p:cxnSp>
        <p:nvCxnSpPr>
          <p:cNvPr id="10" name="Connector 4"/>
          <p:cNvCxnSpPr/>
          <p:nvPr/>
        </p:nvCxnSpPr>
        <p:spPr>
          <a:xfrm>
            <a:off x="2103120" y="49397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4600" y="45923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Simulator</a:t>
            </a:r>
          </a:p>
        </p:txBody>
      </p:sp>
      <p:cxnSp>
        <p:nvCxnSpPr>
          <p:cNvPr id="12" name="Connector 6"/>
          <p:cNvCxnSpPr/>
          <p:nvPr/>
        </p:nvCxnSpPr>
        <p:spPr>
          <a:xfrm>
            <a:off x="3931920" y="49397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80560" y="4592320"/>
            <a:ext cx="1417320" cy="68580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Possible</a:t>
            </a:r>
            <a:br/>
            <a:r>
              <a:t>futures</a:t>
            </a:r>
          </a:p>
        </p:txBody>
      </p:sp>
      <p:cxnSp>
        <p:nvCxnSpPr>
          <p:cNvPr id="14" name="Connector 8"/>
          <p:cNvCxnSpPr/>
          <p:nvPr/>
        </p:nvCxnSpPr>
        <p:spPr>
          <a:xfrm>
            <a:off x="5897880" y="49397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46520" y="4592320"/>
            <a:ext cx="14173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Safe</a:t>
            </a:r>
            <a:br/>
            <a:r>
              <a:t>planner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7863840" y="4939792"/>
            <a:ext cx="365760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412480" y="4592320"/>
            <a:ext cx="1417320" cy="6858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Action</a:t>
            </a:r>
          </a:p>
        </p:txBody>
      </p:sp>
      <p:cxnSp>
        <p:nvCxnSpPr>
          <p:cNvPr id="20" name="Connector 12"/>
          <p:cNvCxnSpPr/>
          <p:nvPr/>
        </p:nvCxnSpPr>
        <p:spPr>
          <a:xfrm>
            <a:off x="9829800" y="4939792"/>
            <a:ext cx="365759" cy="0"/>
          </a:xfrm>
          <a:prstGeom prst="line">
            <a:avLst/>
          </a:prstGeom>
          <a:ln w="2540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058400" y="4592320"/>
            <a:ext cx="1417320" cy="685800"/>
          </a:xfrm>
          <a:prstGeom prst="roundRect">
            <a:avLst/>
          </a:prstGeom>
          <a:solidFill>
            <a:srgbClr val="F3F4F6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72554"/>
                </a:solidFill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Execution plan</a:t>
            </a: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305560"/>
            <a:ext cx="11729085" cy="42691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latin typeface="UCL Sans SemiBold"/>
              </a:rPr>
              <a:t>Risk analysis</a:t>
            </a:r>
            <a:endParaRPr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04240" y="1579880"/>
          <a:ext cx="8954135" cy="2632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940"/>
                <a:gridCol w="3219450"/>
                <a:gridCol w="3420745"/>
              </a:tblGrid>
              <a:tr h="526415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My response</a:t>
                      </a:r>
                    </a:p>
                  </a:txBody>
                  <a:tcPr marL="36576" marR="36576" anchor="ctr">
                    <a:solidFill>
                      <a:srgbClr val="172554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Simulator is slow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Experiments take time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Run small pilots first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Planner fails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Car may not move safely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Save debug files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Path is not neat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Results look weak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Tune tracking</a:t>
                      </a:r>
                    </a:p>
                  </a:txBody>
                  <a:tcPr marL="36576" marR="36576" anchor="ctr">
                    <a:solidFill>
                      <a:srgbClr val="FFFFFF"/>
                    </a:solidFill>
                  </a:tcPr>
                </a:tc>
              </a:tr>
              <a:tr h="52641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Too few tests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Claims are not strong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Scale gradually</a:t>
                      </a:r>
                    </a:p>
                  </a:txBody>
                  <a:tcPr marL="36576" marR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663440"/>
            <a:ext cx="10241280" cy="960120"/>
          </a:xfrm>
          <a:prstGeom prst="round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64592" bIns="73152" rtlCol="0" anchor="ctr"/>
          <a:lstStyle/>
          <a:p>
            <a:pPr algn="l">
              <a:defRPr sz="1500">
                <a:solidFill>
                  <a:srgbClr val="111827"/>
                </a:solidFill>
              </a:defRPr>
            </a:pPr>
            <a:r>
              <a:rPr sz="1800">
                <a:latin typeface="UCL Sans" pitchFamily="2" charset="77"/>
              </a:rPr>
              <a:t>The biggest risk is not only whether the car can finish once. I also need to show that it can finish reliably, with a reasonable path, across more starting conditions. This is why I am using small pilots before full experiments.</a:t>
            </a:r>
            <a:endParaRPr sz="1800">
              <a:latin typeface="UCL Sans" pitchFamily="2" charset="7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people on a staircase&#10;&#10;AI-generated content may be incorrect."/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>
          <a:blip r:embed="rId1"/>
          <a:srcRect t="7707" b="7707"/>
          <a:stretch>
            <a:fillRect/>
          </a:stretch>
        </p:blipFill>
        <p:spPr/>
      </p:pic>
      <p:pic>
        <p:nvPicPr>
          <p:cNvPr id="7" name="Picture 6"/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4572" y="6060701"/>
            <a:ext cx="1421688" cy="399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CL Slides templates - Simple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UCL Slides templates - Complex design theme">
  <a:themeElements>
    <a:clrScheme name="UCL Colours Theme">
      <a:dk1>
        <a:srgbClr val="000000"/>
      </a:dk1>
      <a:lt1>
        <a:srgbClr val="FAFAFA"/>
      </a:lt1>
      <a:dk2>
        <a:srgbClr val="000000"/>
      </a:dk2>
      <a:lt2>
        <a:srgbClr val="E8E8E8"/>
      </a:lt2>
      <a:accent1>
        <a:srgbClr val="3A1857"/>
      </a:accent1>
      <a:accent2>
        <a:srgbClr val="993AFF"/>
      </a:accent2>
      <a:accent3>
        <a:srgbClr val="B982FF"/>
      </a:accent3>
      <a:accent4>
        <a:srgbClr val="DDBDFF"/>
      </a:accent4>
      <a:accent5>
        <a:srgbClr val="EEDEFF"/>
      </a:accent5>
      <a:accent6>
        <a:srgbClr val="30D6FF"/>
      </a:accent6>
      <a:hlink>
        <a:srgbClr val="3A1857"/>
      </a:hlink>
      <a:folHlink>
        <a:srgbClr val="993AFF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contentTypeID="0x010100A12A0662030DBC4F99C1FA9D93D14A4C" ma:_="" ma:contentTypeName="Document" ma:contentTypeVersion="" ma:contentTypeScope="" ma:versionID="601ee87aba0edee35dd0bd1031319f69" ma:contentTypeDescription="Create a new document.">
  <xsd:schema xmlns:xsd="http://www.w3.org/2001/XMLSchema" xmlns:xs="http://www.w3.org/2001/XMLSchema" xmlns:p="http://schemas.microsoft.com/office/2006/metadata/properties" xmlns:ns2="1d368349-1023-48e7-96c9-f9d028f6f0fb" xmlns:ns3="1aa119c2-5735-4356-91ec-0ca074bf9097" xmlns:ns4="32f397aa-99c0-43f4-9b94-7b5d785faf95" ns2:_="" ns4:_="" targetNamespace="http://schemas.microsoft.com/office/2006/metadata/properties" ma:fieldsID="ceaa2ff74debb88eeec5ab219e85c5f9" ns3:_="" ma:root="true">
    <xsd:import namespace="1d368349-1023-48e7-96c9-f9d028f6f0fb"/>
    <xsd:import namespace="1aa119c2-5735-4356-91ec-0ca074bf9097"/>
    <xsd:import namespace="32f397aa-99c0-43f4-9b94-7b5d785faf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dms="http://schemas.microsoft.com/office/2006/documentManagement/types" xmlns:xs="http://www.w3.org/2001/XMLSchema" xmlns:pc="http://schemas.microsoft.com/office/infopath/2007/PartnerControls" elementFormDefault="qualified" targetNamespace="1d368349-1023-48e7-96c9-f9d028f6f0fb">
    <xsd:import namespace="http://schemas.microsoft.com/office/2006/documentManagement/types"/>
    <xsd:import namespace="http://schemas.microsoft.com/office/infopath/2007/PartnerControls"/>
    <xsd:element ma:internalName="MediaServiceMetadata" nillable="true" ma:hidden="true" ma:readOnly="true" name="MediaServiceMetadata" ma:displayName="MediaServiceMetadata" ma:index="8">
      <xsd:simpleType>
        <xsd:restriction base="dms:Note"/>
      </xsd:simpleType>
    </xsd:element>
    <xsd:element ma:internalName="MediaServiceFastMetadata" nillable="true" ma:hidden="true" ma:readOnly="true" name="MediaServiceFastMetadata" ma:displayName="MediaServiceFastMetadata" ma:index="9">
      <xsd:simpleType>
        <xsd:restriction base="dms:Note"/>
      </xsd:simpleType>
    </xsd:element>
    <xsd:element ma:internalName="MediaServiceAutoKeyPoints" nillable="true" ma:hidden="true" ma:readOnly="true" name="MediaServiceAutoKeyPoints" ma:displayName="MediaServiceAutoKeyPoints" ma:index="10">
      <xsd:simpleType>
        <xsd:restriction base="dms:Note"/>
      </xsd:simpleType>
    </xsd:element>
    <xsd:element ma:internalName="MediaServiceKeyPoints" nillable="true" ma:readOnly="true" name="MediaServiceKeyPoints" ma:displayName="KeyPoints" ma:index="11">
      <xsd:simpleType>
        <xsd:restriction base="dms:Note">
          <xsd:maxLength value="255"/>
        </xsd:restriction>
      </xsd:simpleType>
    </xsd:element>
    <xsd:element ma:internalName="MediaServiceAutoTags" nillable="true" ma:readOnly="true" name="MediaServiceAutoTags" ma:displayName="Tags" ma:index="12">
      <xsd:simpleType>
        <xsd:restriction base="dms:Text"/>
      </xsd:simpleType>
    </xsd:element>
    <xsd:element ma:internalName="MediaServiceOCR" nillable="true" ma:readOnly="true" name="MediaServiceOCR" ma:displayName="Extracted Text" ma:index="13">
      <xsd:simpleType>
        <xsd:restriction base="dms:Note">
          <xsd:maxLength value="255"/>
        </xsd:restriction>
      </xsd:simpleType>
    </xsd:element>
    <xsd:element ma:internalName="MediaServiceGenerationTime" nillable="true" ma:hidden="true" ma:readOnly="true" name="MediaServiceGenerationTime" ma:displayName="MediaServiceGenerationTime" ma:index="14">
      <xsd:simpleType>
        <xsd:restriction base="dms:Text"/>
      </xsd:simpleType>
    </xsd:element>
    <xsd:element ma:internalName="MediaServiceEventHashCode" nillable="true" ma:hidden="true" ma:readOnly="true" name="MediaServiceEventHashCode" ma:displayName="MediaServiceEventHashCode" ma:index="15">
      <xsd:simpleType>
        <xsd:restriction base="dms:Text"/>
      </xsd:simpleType>
    </xsd:element>
    <xsd:element ma:internalName="MediaServiceDateTaken" nillable="true" ma:hidden="true" ma:readOnly="true" name="MediaServiceDateTaken" ma:displayName="MediaServiceDateTaken" ma:index="16">
      <xsd:simpleType>
        <xsd:restriction base="dms:Text"/>
      </xsd:simpleType>
    </xsd:element>
    <xsd:element ma:internalName="MediaServiceLocation" nillable="true" ma:readOnly="true" name="MediaServiceLocation" ma:displayName="Location" ma:index="19">
      <xsd:simpleType>
        <xsd:restriction base="dms:Text"/>
      </xsd:simpleType>
    </xsd:element>
    <xsd:element ma:internalName="MediaLengthInSeconds" nillable="true" ma:hidden="true" ma:readOnly="true" name="MediaLengthInSeconds" ma:displayName="MediaLengthInSeconds" ma:index="20">
      <xsd:simpleType>
        <xsd:restriction base="dms:Unknown"/>
      </xsd:simpleType>
    </xsd:element>
    <xsd:element ma:taxonomy="true" ma:isKeyword="false" ma:internalName="lcf76f155ced4ddcb4097134ff3c332f" ma:termSetId="09814cd3-568e-fe90-9814-8d621ff8fb84" ma:taxonomyMulti="true" ma:fieldId="{5cf76f15-5ced-4ddc-b409-7134ff3c332f}" ma:taxonomyFieldName="MediaServiceImageTags" ma:open="true" nillable="true" ma:anchorId="fba54fb3-c3e1-fe81-a776-ca4b69148c4d" ma:readOnly="false" ma:sspId="579a89b1-2c2c-4f7f-9bd7-7914fb13a02b" name="lcf76f155ced4ddcb4097134ff3c332f" ma:displayName="Image Tags" ma:index="22">
      <xsd:complexType>
        <xsd:sequence>
          <xsd:element maxOccurs="1" ref="pc:Terms" minOccurs="0"/>
        </xsd:sequence>
      </xsd:complexType>
    </xsd:element>
    <xsd:element ma:internalName="MediaServiceObjectDetectorVersions" ma:indexed="true" nillable="true" ma:hidden="true" ma:readOnly="true" name="MediaServiceObjectDetectorVersions" ma:displayName="MediaServiceObjectDetectorVersions" ma:index="24">
      <xsd:simpleType>
        <xsd:restriction base="dms:Text"/>
      </xsd:simpleType>
    </xsd:element>
    <xsd:element ma:internalName="MediaServiceSearchProperties" nillable="true" ma:hidden="true" ma:readOnly="true" name="MediaServiceSearchProperties" ma:displayName="MediaServiceSearchProperties" ma:index="25">
      <xsd:simpleType>
        <xsd:restriction base="dms:Note"/>
      </xsd:simpleType>
    </xsd:element>
  </xsd:schema>
  <xsd:schema xmlns:xsd="http://www.w3.org/2001/XMLSchema" xmlns:dms="http://schemas.microsoft.com/office/2006/documentManagement/types" xmlns:xs="http://www.w3.org/2001/XMLSchema" xmlns:pc="http://schemas.microsoft.com/office/infopath/2007/PartnerControls" elementFormDefault="qualified" targetNamespace="1aa119c2-5735-4356-91ec-0ca074bf9097">
    <xsd:import namespace="http://schemas.microsoft.com/office/2006/documentManagement/types"/>
    <xsd:import namespace="http://schemas.microsoft.com/office/infopath/2007/PartnerControls"/>
    <xsd:element ma:internalName="SharedWithUsers" nillable="true" ma:readOnly="true" name="SharedWithUsers" ma:displayName="Shared With" ma:index="17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type="xsd:string" name="DisplayName"/>
                    <xsd:element minOccurs="0" type="dms:UserId" nillable="true" name="AccountId"/>
                    <xsd:element minOccurs="0" type="xsd:string" name="AccountType"/>
                  </xsd:sequence>
                </xsd:complexType>
              </xsd:element>
            </xsd:sequence>
          </xsd:extension>
        </xsd:complexContent>
      </xsd:complexType>
    </xsd:element>
    <xsd:element ma:internalName="SharedWithDetails" nillable="true" ma:readOnly="true" name="SharedWithDetails" ma:displayName="Shared With Details" ma:index="18">
      <xsd:simpleType>
        <xsd:restriction base="dms:Note">
          <xsd:maxLength value="255"/>
        </xsd:restriction>
      </xsd:simpleType>
    </xsd:element>
  </xsd:schema>
  <xsd:schema xmlns:xsd="http://www.w3.org/2001/XMLSchema" xmlns:dms="http://schemas.microsoft.com/office/2006/documentManagement/types" xmlns:xs="http://www.w3.org/2001/XMLSchema" xmlns:pc="http://schemas.microsoft.com/office/infopath/2007/PartnerControls" elementFormDefault="qualified" targetNamespace="32f397aa-99c0-43f4-9b94-7b5d785faf95">
    <xsd:import namespace="http://schemas.microsoft.com/office/2006/documentManagement/types"/>
    <xsd:import namespace="http://schemas.microsoft.com/office/infopath/2007/PartnerControls"/>
    <xsd:element ma:internalName="TaxCatchAll" ma:list="{d117ceb8-fbd8-4cd5-a93e-9fc1393353fc}" nillable="true" ma:hidden="true" name="TaxCatchAll" ma:displayName="Taxonomy Catch All Column" ma:showField="CatchAllData" ma:web="32f397aa-99c0-43f4-9b94-7b5d785faf95" ma:index="23">
      <xsd:complexType>
        <xsd:complexContent>
          <xsd:extension base="dms:MultiChoiceLookup">
            <xsd:sequence>
              <xsd:element maxOccurs="unbounded" minOccurs="0" type="dms:Lookup" nillable="true" name="Value"/>
            </xsd:sequence>
          </xsd:extension>
        </xsd:complexContent>
      </xsd:complexType>
    </xsd:element>
  </xsd:schema>
  <xsd:schema xmlns:xsd="http://www.w3.org/2001/XMLSchema" xmlns:dc="http://purl.org/dc/elements/1.1/" xmlns="http://schemas.openxmlformats.org/package/2006/metadata/core-properties" xmlns:dcterms="http://purl.org/dc/terms/" xmlns:xsi="http://www.w3.org/2001/XMLSchema-instance" xmlns:odoc="http://schemas.microsoft.com/internal/obd" blockDefault="#all" elementFormDefault="qualified" attributeFormDefault="unqualified" targetNamespace="http://schemas.openxmlformats.org/package/2006/metadata/core-properties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type="CT_coreProperties" name="coreProperties"/>
    <xsd:complexType name="CT_coreProperties">
      <xsd:all>
        <xsd:element maxOccurs="1" ref="dc:creator" minOccurs="0"/>
        <xsd:element maxOccurs="1" ref="dcterms:created" minOccurs="0"/>
        <xsd:element maxOccurs="1" ref="dc:identifier" minOccurs="0"/>
        <xsd:element maxOccurs="1" minOccurs="0" type="xsd:string" name="contentType" ma:displayName="Content Type" ma:index="0"/>
        <xsd:element maxOccurs="1" ref="dc:title" minOccurs="0" ma:displayName="Title" ma:index="4"/>
        <xsd:element maxOccurs="1" ref="dc:subject" minOccurs="0"/>
        <xsd:element maxOccurs="1" ref="dc:description" minOccurs="0"/>
        <xsd:element maxOccurs="1" minOccurs="0" type="xsd:string" name="keywords"/>
        <xsd:element maxOccurs="1" ref="dc:language" minOccurs="0"/>
        <xsd:element maxOccurs="1" minOccurs="0" type="xsd:string" name="category"/>
        <xsd:element maxOccurs="1" minOccurs="0" type="xsd:string" name="version"/>
        <xsd:element maxOccurs="1" minOccurs="0" type="xsd:string" name="revision">
          <xsd:annotation>
            <xsd:documentation>
                        This value indicates the number of saves or revisions. The application is responsible for updating this value after each revision.
                    </xsd:documentation>
          </xsd:annotation>
        </xsd:element>
        <xsd:element maxOccurs="1" minOccurs="0" type="xsd:string" name="lastModifiedBy"/>
        <xsd:element maxOccurs="1" ref="dcterms:modified" minOccurs="0"/>
        <xsd:element maxOccurs="1" minOccurs="0" type="xsd:string" name="contentStatus"/>
      </xsd:all>
    </xsd:complexType>
  </xsd:schema>
  <xs:schema xmlns:xs="http://www.w3.org/2001/XMLSchema" xmlns:pc="http://schemas.microsoft.com/office/infopath/2007/PartnerControls" elementFormDefault="qualified" attributeFormDefault="unqualified" targetNamespace="http://schemas.microsoft.com/office/infopath/2007/PartnerControls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maxOccurs="unbounded" ref="pc:BDCEntity" minOccurs="0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maxOccurs="unbounded" ref="pc:TermInfo" minOccurs="0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type="xs:string" name="TermName"/>
    <xs:element type="xs:string" name="TermId"/>
  </xs:schema>
</ct:contentTypeSchema>
</file>

<file path=customXml/item2.xml><?xml version="1.0" encoding="utf-8"?>
<p:properties xmlns:xsi="http://www.w3.org/2001/XMLSchema-instance" xmlns:p="http://schemas.microsoft.com/office/2006/metadata/properties" xmlns:pc="http://schemas.microsoft.com/office/infopath/2007/PartnerControls">
  <documentManagement>
    <lcf76f155ced4ddcb4097134ff3c332f xmlns="1d368349-1023-48e7-96c9-f9d028f6f0fb">
      <Terms xmlns="http://schemas.microsoft.com/office/infopath/2007/PartnerControls"/>
    </lcf76f155ced4ddcb4097134ff3c332f>
    <TaxCatchAll xmlns="32f397aa-99c0-43f4-9b94-7b5d785faf9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618EBA-795F-4487-B29C-4E0D2C8D67FE}">
  <ds:schemaRefs/>
</ds:datastoreItem>
</file>

<file path=customXml/itemProps2.xml><?xml version="1.0" encoding="utf-8"?>
<ds:datastoreItem xmlns:ds="http://schemas.openxmlformats.org/officeDocument/2006/customXml" ds:itemID="{6ECBB2BC-B86C-4646-888A-87EB55C19509}">
  <ds:schemaRefs/>
</ds:datastoreItem>
</file>

<file path=customXml/itemProps3.xml><?xml version="1.0" encoding="utf-8"?>
<ds:datastoreItem xmlns:ds="http://schemas.openxmlformats.org/officeDocument/2006/customXml" ds:itemID="{55700595-49AE-497B-9134-6C4B03871A7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UCL Slides templates - Simple theme</Template>
  <TotalTime>0</TotalTime>
  <Words>2608</Words>
  <Application>WPS Presentation</Application>
  <PresentationFormat>宽屏</PresentationFormat>
  <Paragraphs>139</Paragraphs>
  <Slides>9</Slides>
  <Notes>9</Notes>
  <HiddenSlides>0</HiddenSlides>
  <MMClips>1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SimSun</vt:lpstr>
      <vt:lpstr>Wingdings</vt:lpstr>
      <vt:lpstr>Aptos</vt:lpstr>
      <vt:lpstr>Helvetica Neue</vt:lpstr>
      <vt:lpstr>UCL Sans SemiBold</vt:lpstr>
      <vt:lpstr>UCL Sans</vt:lpstr>
      <vt:lpstr>UCL Sans</vt:lpstr>
      <vt:lpstr>UCL Sans SemiBold</vt:lpstr>
      <vt:lpstr>Microsoft YaHei</vt:lpstr>
      <vt:lpstr>汉仪旗黑</vt:lpstr>
      <vt:lpstr>Arial Unicode MS</vt:lpstr>
      <vt:lpstr>宋体-简</vt:lpstr>
      <vt:lpstr>UCL Slides templates - Simple theme</vt:lpstr>
      <vt:lpstr>UCL Slides templates - Complex design theme</vt:lpstr>
      <vt:lpstr>PowerPoint 演示文稿</vt:lpstr>
      <vt:lpstr>Area of research</vt:lpstr>
      <vt:lpstr>Problem</vt:lpstr>
      <vt:lpstr>Significance</vt:lpstr>
      <vt:lpstr>State of the art</vt:lpstr>
      <vt:lpstr>Hypothesis</vt:lpstr>
      <vt:lpstr>Execution plan</vt:lpstr>
      <vt:lpstr>Risk analysis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ucypevl-test</dc:creator>
  <cp:lastModifiedBy>Jiaqi Xie</cp:lastModifiedBy>
  <cp:revision>281</cp:revision>
  <dcterms:created xsi:type="dcterms:W3CDTF">2026-05-27T15:58:50Z</dcterms:created>
  <dcterms:modified xsi:type="dcterms:W3CDTF">2026-05-27T15:58:50Z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0x010100A12A0662030DBC4F99C1FA9D93D14A4C</vt:lpwstr>
  </property>
  <property fmtid="{D5CDD505-2E9C-101B-9397-08002B2CF9AE}" pid="3" name="MediaServiceImageTags">
    <vt:lpwstr/>
  </property>
  <property fmtid="{D5CDD505-2E9C-101B-9397-08002B2CF9AE}" pid="4" name="ICV">
    <vt:lpwstr>D68932A3971E5BB62107176A6AD29C46_42</vt:lpwstr>
  </property>
  <property fmtid="{D5CDD505-2E9C-101B-9397-08002B2CF9AE}" pid="5" name="KSOProductBuildVer">
    <vt:lpwstr>1033-12.1.25897.25897</vt:lpwstr>
  </property>
</Properties>
</file>