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6" r:id="rId3"/>
  </p:sldMasterIdLst>
  <p:notesMasterIdLst>
    <p:notesMasterId r:id="rId5"/>
  </p:notesMasterIdLst>
  <p:handoutMasterIdLst>
    <p:handoutMasterId r:id="rId16"/>
  </p:handoutMasterIdLst>
  <p:sldIdLst>
    <p:sldId id="273" r:id="rId4"/>
    <p:sldId id="266" r:id="rId6"/>
    <p:sldId id="327" r:id="rId7"/>
    <p:sldId id="320" r:id="rId8"/>
    <p:sldId id="321" r:id="rId9"/>
    <p:sldId id="323" r:id="rId10"/>
    <p:sldId id="324" r:id="rId11"/>
    <p:sldId id="325" r:id="rId12"/>
    <p:sldId id="326" r:id="rId13"/>
    <p:sldId id="322" r:id="rId14"/>
    <p:sldId id="318" r:id="rId15"/>
  </p:sldIdLst>
  <p:sldSz cx="12192000" cy="6858000"/>
  <p:notesSz cx="6858000" cy="9144000"/>
  <p:embeddedFontLst>
    <p:embeddedFont>
      <p:font typeface="UCL Sans SemiBold" pitchFamily="2" charset="77"/>
      <p:regular r:id="rId20"/>
    </p:embeddedFont>
    <p:embeddedFont>
      <p:font typeface="UCL Sans" pitchFamily="2" charset="77"/>
      <p:regular r:id="rId21"/>
    </p:embeddedFont>
    <p:embeddedFont>
      <p:font typeface="UCL Sans"/>
      <p:regular r:id="rId22"/>
    </p:embeddedFont>
    <p:embeddedFont>
      <p:font typeface="UCL Sans SemiBold"/>
      <p:regular r:id="rId23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CL Slides" id="{64BE57D8-B9E0-4D48-BBC7-659295F1B008}">
          <p14:sldIdLst>
            <p14:sldId id="273"/>
            <p14:sldId id="266"/>
            <p14:sldId id="327"/>
            <p14:sldId id="320"/>
            <p14:sldId id="321"/>
            <p14:sldId id="323"/>
            <p14:sldId id="324"/>
            <p14:sldId id="325"/>
            <p14:sldId id="326"/>
            <p14:sldId id="322"/>
            <p14:sldId id="31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5C"/>
    <a:srgbClr val="5487FF"/>
    <a:srgbClr val="F56300"/>
    <a:srgbClr val="00A19D"/>
    <a:srgbClr val="ED357D"/>
    <a:srgbClr val="FAFAFA"/>
    <a:srgbClr val="3A1857"/>
    <a:srgbClr val="781C1C"/>
    <a:srgbClr val="57B444"/>
    <a:srgbClr val="9E1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86054"/>
  </p:normalViewPr>
  <p:slideViewPr>
    <p:cSldViewPr>
      <p:cViewPr varScale="1">
        <p:scale>
          <a:sx n="105" d="100"/>
          <a:sy n="105" d="100"/>
        </p:scale>
        <p:origin x="8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6" d="100"/>
          <a:sy n="146" d="100"/>
        </p:scale>
        <p:origin x="414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D93C3-F286-9C4B-98EC-FBB7F0C69BB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A0B70-CCF2-4444-BE01-B320D9CE5A4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8A70A-88C5-8F48-B495-07492CFAC4E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 title slide layout features a full background image with a main heading positioned in the top left corner on a dark purple panel. The presenters’ names and the date sit beneath the title. The UCL logo is placed in the bottom right corner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full image with full colour logo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 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full name logo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Faculty, School Department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3627624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135648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2273719" y="5854933"/>
            <a:ext cx="6240809" cy="58278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Type in your faculty/department/unit name here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Title -2-3 line heading an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/>
          <p:cNvSpPr>
            <a:spLocks noGrp="1"/>
          </p:cNvSpPr>
          <p:nvPr>
            <p:ph type="pic" idx="13"/>
          </p:nvPr>
        </p:nvSpPr>
        <p:spPr>
          <a:xfrm>
            <a:off x="1354138" y="2852936"/>
            <a:ext cx="10837862" cy="4005064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1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5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9575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409575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5145088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Divider2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596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35960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5735960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0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subheading,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7583834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Content Placeholder"/>
          <p:cNvSpPr>
            <a:spLocks noGrp="1"/>
          </p:cNvSpPr>
          <p:nvPr>
            <p:ph idx="1" hasCustomPrompt="1"/>
          </p:nvPr>
        </p:nvSpPr>
        <p:spPr>
          <a:xfrm>
            <a:off x="418539" y="1916826"/>
            <a:ext cx="7572936" cy="3758834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GB" dirty="0"/>
              <a:t>Space for graphs, images, charts, videos</a:t>
            </a:r>
            <a:endParaRPr lang="en-GB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subheading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9575" y="421180"/>
            <a:ext cx="4735513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446080" y="2422525"/>
            <a:ext cx="4686360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13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19" y="409575"/>
            <a:ext cx="7550693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40783" y="1916825"/>
            <a:ext cx="7550692" cy="3528300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subheading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8745" y="409575"/>
            <a:ext cx="7572730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27709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400">
                <a:solidFill>
                  <a:schemeClr val="accent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Subheading text style, UCL Sans regular 24pt</a:t>
            </a:r>
            <a:endParaRPr lang="en-GB" dirty="0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670235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8" name="Picture 7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3786188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br>
              <a:rPr lang="en-GB" dirty="0"/>
            </a:b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409575"/>
            <a:ext cx="6627019" cy="1006475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3 column title and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531" y="409575"/>
            <a:ext cx="3797231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6981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8937625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 – 2 column title, subheading, text, table,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294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2940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 descr="Add a clear, concise statement describing the figures presented in the table"/>
          <p:cNvSpPr>
            <a:spLocks noGrp="1" noRot="1" noMove="1" noResize="1" noEditPoints="1" noAdjustHandles="1" noChangeArrowheads="1" noChangeShapeType="1"/>
          </p:cNvSpPr>
          <p:nvPr>
            <p:ph type="tbl" sz="quarter" idx="12" hasCustomPrompt="1"/>
          </p:nvPr>
        </p:nvSpPr>
        <p:spPr>
          <a:xfrm>
            <a:off x="392940" y="3619500"/>
            <a:ext cx="2841625" cy="2828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4411004" y="826261"/>
            <a:ext cx="7369833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4411005" y="1419226"/>
            <a:ext cx="73714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5516672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56600" y="4438650"/>
            <a:ext cx="5516637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282387" y="2046440"/>
            <a:ext cx="5516673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282388" y="4438650"/>
            <a:ext cx="5494895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Content – Title - 2 column 1 image 1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4429696" cy="339868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2046440"/>
            <a:ext cx="6627019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full page image full colou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4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 noRot="1" noMove="1" noResize="1" noEditPoints="1" noAdjustHandles="1" noChangeArrowheads="1" noChangeShapeType="1"/>
          </p:cNvSpPr>
          <p:nvPr>
            <p:ph type="body" sz="quarter" idx="15" hasCustomPrompt="1"/>
          </p:nvPr>
        </p:nvSpPr>
        <p:spPr>
          <a:xfrm>
            <a:off x="434508" y="409575"/>
            <a:ext cx="8569680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34507" y="2145327"/>
            <a:ext cx="2717527" cy="174819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ext Placeholder 3"/>
          <p:cNvSpPr>
            <a:spLocks noGrp="1"/>
          </p:cNvSpPr>
          <p:nvPr>
            <p:ph type="body" sz="half" idx="25" hasCustomPrompt="1"/>
          </p:nvPr>
        </p:nvSpPr>
        <p:spPr>
          <a:xfrm>
            <a:off x="434508" y="4087765"/>
            <a:ext cx="27175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3481193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6" hasCustomPrompt="1"/>
          </p:nvPr>
        </p:nvSpPr>
        <p:spPr>
          <a:xfrm>
            <a:off x="3454053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349679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7" hasCustomPrompt="1"/>
          </p:nvPr>
        </p:nvSpPr>
        <p:spPr>
          <a:xfrm>
            <a:off x="6336110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218166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8" hasCustomPrompt="1"/>
          </p:nvPr>
        </p:nvSpPr>
        <p:spPr>
          <a:xfrm>
            <a:off x="9218166" y="4087765"/>
            <a:ext cx="25393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pic>
        <p:nvPicPr>
          <p:cNvPr id="3" name="Picture 2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_Title  - 2/3 line heading,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 noRot="1" noMove="1" noResize="1" noEditPoints="1" noAdjustHandles="1" noChangeArrowheads="1" noChangeShapeType="1"/>
          </p:cNvSpPr>
          <p:nvPr>
            <p:ph type="pic" idx="10" hasCustomPrompt="1"/>
          </p:nvPr>
        </p:nvSpPr>
        <p:spPr>
          <a:xfrm>
            <a:off x="-7474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100"/>
            </a:lvl1pPr>
            <a:lvl2pPr marL="457200" indent="0">
              <a:buNone/>
              <a:defRPr sz="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dirty="0"/>
              <a:t>Insert and image</a:t>
            </a:r>
            <a:endParaRPr lang="en-US" dirty="0"/>
          </a:p>
        </p:txBody>
      </p:sp>
      <p:pic>
        <p:nvPicPr>
          <p:cNvPr id="2" name="Picture 1" descr="UCL logo, University College London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1401472" y="1"/>
            <a:ext cx="5633204" cy="6858000"/>
          </a:xfrm>
          <a:prstGeom prst="rect">
            <a:avLst/>
          </a:prstGeom>
          <a:solidFill>
            <a:schemeClr val="accent1"/>
          </a:solidFill>
        </p:spPr>
        <p:txBody>
          <a:bodyPr lIns="360000" tIns="360000" rIns="360000" bIns="36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200" b="1" i="0">
                <a:solidFill>
                  <a:schemeClr val="accent3"/>
                </a:solidFill>
                <a:latin typeface="UCL Sans SemiBold" pitchFamily="2" charset="77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GB" sz="4200" dirty="0">
                <a:solidFill>
                  <a:schemeClr val="accent3"/>
                </a:solidFill>
              </a:rPr>
              <a:t>Main Headline style slide UCL Sans </a:t>
            </a:r>
            <a:r>
              <a:rPr lang="en-GB" sz="4200" dirty="0" err="1">
                <a:solidFill>
                  <a:schemeClr val="accent3"/>
                </a:solidFill>
              </a:rPr>
              <a:t>SemiBold</a:t>
            </a:r>
            <a:r>
              <a:rPr lang="en-GB" sz="4200" dirty="0">
                <a:solidFill>
                  <a:schemeClr val="accent3"/>
                </a:solidFill>
              </a:rPr>
              <a:t> 42pt 2-3 lines max</a:t>
            </a:r>
            <a:endParaRPr lang="en-US" sz="4200" dirty="0">
              <a:solidFill>
                <a:schemeClr val="accent3"/>
              </a:solidFill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91890" y="3455778"/>
            <a:ext cx="4807745" cy="70770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1791889" y="4503309"/>
            <a:ext cx="4807745" cy="26504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18px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8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1 column title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36124" y="409575"/>
            <a:ext cx="6604548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Divider section Title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36124" y="1916825"/>
            <a:ext cx="6604547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5" name="Rectangle 4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54138" y="0"/>
            <a:ext cx="18923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535" y="2448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 Divider – 2 column title, text, table,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82624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2"/>
          </p:nvPr>
        </p:nvSpPr>
        <p:spPr>
          <a:xfrm>
            <a:off x="1354139" y="3558615"/>
            <a:ext cx="2668022" cy="28289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5272740" y="882638"/>
            <a:ext cx="6508098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5275105" y="1419226"/>
            <a:ext cx="65073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353402" y="4438650"/>
            <a:ext cx="5070914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68636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686367" y="4438650"/>
            <a:ext cx="5049033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1343450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0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43449" y="2046440"/>
            <a:ext cx="4502211" cy="339868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2046440"/>
            <a:ext cx="5684838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4 column title, 4 images, 4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quarter" idx="15" hasCustomPrompt="1"/>
          </p:nvPr>
        </p:nvSpPr>
        <p:spPr>
          <a:xfrm>
            <a:off x="1354138" y="409575"/>
            <a:ext cx="8569680" cy="13779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6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5" y="4204795"/>
            <a:ext cx="2438375" cy="1242244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800" b="0" i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4014597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7" hasCustomPrompt="1"/>
          </p:nvPr>
        </p:nvSpPr>
        <p:spPr>
          <a:xfrm>
            <a:off x="4014597" y="4204795"/>
            <a:ext cx="2445318" cy="12689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675058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8" hasCustomPrompt="1"/>
          </p:nvPr>
        </p:nvSpPr>
        <p:spPr>
          <a:xfrm>
            <a:off x="6675058" y="4204795"/>
            <a:ext cx="2426413" cy="12422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335520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9320932" y="4204795"/>
            <a:ext cx="2459905" cy="12668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1993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title, 1 subheading, 2 image/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354139" y="421180"/>
            <a:ext cx="4303112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6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1354138" y="2422525"/>
            <a:ext cx="4303112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7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– full page image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391438" y="0"/>
            <a:ext cx="1180056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0890" y="6067187"/>
            <a:ext cx="1432605" cy="402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/>
              <a:t>Click to edit Master text styles</a:t>
            </a:r>
            <a:endParaRPr lang="en-GB" altLang="en-US"/>
          </a:p>
          <a:p>
            <a:pPr lvl="1"/>
            <a:r>
              <a:rPr lang="en-GB" altLang="en-US"/>
              <a:t>Second level</a:t>
            </a:r>
            <a:endParaRPr lang="en-GB" altLang="en-US"/>
          </a:p>
          <a:p>
            <a:pPr lvl="2"/>
            <a:r>
              <a:rPr lang="en-GB" altLang="en-US"/>
              <a:t>Third level</a:t>
            </a:r>
            <a:endParaRPr lang="en-GB" altLang="en-US"/>
          </a:p>
          <a:p>
            <a:pPr lvl="3"/>
            <a:r>
              <a:rPr lang="en-GB" altLang="en-US"/>
              <a:t>Fourth level</a:t>
            </a:r>
            <a:endParaRPr lang="en-GB" altLang="en-US"/>
          </a:p>
          <a:p>
            <a:pPr lvl="4"/>
            <a:r>
              <a:rPr lang="en-GB" altLang="en-US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 dirty="0"/>
              <a:t>Click to edit Master text styles</a:t>
            </a:r>
            <a:endParaRPr lang="en-GB" altLang="en-US" dirty="0"/>
          </a:p>
          <a:p>
            <a:pPr lvl="1"/>
            <a:r>
              <a:rPr lang="en-GB" altLang="en-US" dirty="0"/>
              <a:t>Second level</a:t>
            </a:r>
            <a:endParaRPr lang="en-GB" altLang="en-US" dirty="0"/>
          </a:p>
          <a:p>
            <a:pPr lvl="2"/>
            <a:r>
              <a:rPr lang="en-GB" altLang="en-US" dirty="0"/>
              <a:t>Third level</a:t>
            </a:r>
            <a:endParaRPr lang="en-GB" altLang="en-US" dirty="0"/>
          </a:p>
          <a:p>
            <a:pPr lvl="3"/>
            <a:r>
              <a:rPr lang="en-GB" altLang="en-US" dirty="0"/>
              <a:t>Fourth level</a:t>
            </a:r>
            <a:endParaRPr lang="en-GB" altLang="en-US" dirty="0"/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emf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 descr="A couple of women standing on a balcony&#10;&#10;AI-generated content may be incorrect."/>
          <p:cNvPicPr>
            <a:picLocks noGrp="1" noChangeAspect="1"/>
          </p:cNvPicPr>
          <p:nvPr>
            <p:ph type="pic" idx="10"/>
          </p:nvPr>
        </p:nvPicPr>
        <p:blipFill>
          <a:blip r:embed="rId1"/>
          <a:srcRect t="7813" b="7813"/>
          <a:stretch>
            <a:fillRect/>
          </a:stretch>
        </p:blipFill>
        <p:spPr>
          <a:xfrm>
            <a:off x="-1588" y="0"/>
            <a:ext cx="12192001" cy="6858000"/>
          </a:xfrm>
        </p:spPr>
      </p:pic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>
                <a:sym typeface="+mn-ea"/>
              </a:rPr>
              <a:t>Risk-Aware Planning for Autonomous Driving</a:t>
            </a:r>
            <a:endParaRPr lang="en-US" altLang="en-US"/>
          </a:p>
        </p:txBody>
      </p:sp>
      <p:sp>
        <p:nvSpPr>
          <p:cNvPr id="9" name="Rectangle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Jiaqi Xie</a:t>
            </a:r>
            <a:endParaRPr lang="en-US" altLang="en-GB">
              <a:latin typeface="UCL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25027138</a:t>
            </a:r>
            <a:endParaRPr lang="en-US" altLang="en-GB">
              <a:latin typeface="UCL Sans"/>
            </a:endParaRPr>
          </a:p>
        </p:txBody>
      </p:sp>
      <p:pic>
        <p:nvPicPr>
          <p:cNvPr id="4" name="Picture 3" descr="UCL logo, University College Lond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8" name="Rectangle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Area of Research</a:t>
            </a:r>
            <a:r>
              <a:rPr lang="en-US" altLang="en-GB">
                <a:latin typeface="UCL Sans SemiBold"/>
              </a:rPr>
              <a:t>: Autonomous Driving</a:t>
            </a:r>
            <a:endParaRPr lang="en-US" altLang="en-GB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216025"/>
            <a:ext cx="10014585" cy="1986280"/>
          </a:xfrm>
        </p:spPr>
        <p:txBody>
          <a:bodyPr/>
          <a:lstStyle/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Autonomous driving requires a vehicle to perceive the environment, predict other road users, plan a safe trajectory, and control its motion.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This project focuses on how a self-driving car plans a safe action when another vehicle may move in several possible ways.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1800" y="36652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Scenario</a:t>
            </a:r>
          </a:p>
        </p:txBody>
      </p:sp>
      <p:cxnSp>
        <p:nvCxnSpPr>
          <p:cNvPr id="18" name="Connector 4"/>
          <p:cNvCxnSpPr/>
          <p:nvPr/>
        </p:nvCxnSpPr>
        <p:spPr>
          <a:xfrm>
            <a:off x="184912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260600" y="36652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Perception</a:t>
            </a:r>
            <a:endParaRPr lang="en-US" altLang="en-US"/>
          </a:p>
        </p:txBody>
      </p:sp>
      <p:cxnSp>
        <p:nvCxnSpPr>
          <p:cNvPr id="20" name="Connector 6"/>
          <p:cNvCxnSpPr/>
          <p:nvPr/>
        </p:nvCxnSpPr>
        <p:spPr>
          <a:xfrm>
            <a:off x="367792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6560" y="3665220"/>
            <a:ext cx="1417320" cy="68580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Prediction</a:t>
            </a:r>
            <a:endParaRPr lang="en-US" altLang="en-US"/>
          </a:p>
        </p:txBody>
      </p:sp>
      <p:cxnSp>
        <p:nvCxnSpPr>
          <p:cNvPr id="22" name="Connector 8"/>
          <p:cNvCxnSpPr/>
          <p:nvPr/>
        </p:nvCxnSpPr>
        <p:spPr>
          <a:xfrm>
            <a:off x="564388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2520" y="3665220"/>
            <a:ext cx="14173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Planning</a:t>
            </a:r>
            <a:endParaRPr lang="en-US" altLang="en-US"/>
          </a:p>
        </p:txBody>
      </p:sp>
      <p:cxnSp>
        <p:nvCxnSpPr>
          <p:cNvPr id="24" name="Connector 10"/>
          <p:cNvCxnSpPr/>
          <p:nvPr/>
        </p:nvCxnSpPr>
        <p:spPr>
          <a:xfrm>
            <a:off x="760984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58480" y="36652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Control</a:t>
            </a:r>
            <a:endParaRPr lang="en-US" altLang="en-US"/>
          </a:p>
        </p:txBody>
      </p:sp>
      <p:cxnSp>
        <p:nvCxnSpPr>
          <p:cNvPr id="26" name="Connector 12"/>
          <p:cNvCxnSpPr/>
          <p:nvPr/>
        </p:nvCxnSpPr>
        <p:spPr>
          <a:xfrm>
            <a:off x="9575800" y="4012692"/>
            <a:ext cx="365759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804400" y="36652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Results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431800" y="5012690"/>
            <a:ext cx="992187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This is not general autonomous driving perception. </a:t>
            </a:r>
            <a:endParaRPr lang="en-US" altLang="en-US" sz="18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It is about decision-making and control under uncertain future behaviour.</a:t>
            </a:r>
            <a:endParaRPr lang="en-US" altLang="en-US" sz="18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  <a:sym typeface="+mn-ea"/>
              </a:rPr>
              <a:t>Target vehicles may slow down, continue, turn, or behave unexpectedly.</a:t>
            </a:r>
            <a:endParaRPr lang="en-US" altLang="en-US" sz="1800">
              <a:solidFill>
                <a:srgbClr val="FF0000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US" altLang="en-GB">
                <a:latin typeface="UCL Sans SemiBold"/>
              </a:rPr>
              <a:t>Problem: Crossing an Intersection</a:t>
            </a:r>
            <a:endParaRPr lang="en-US" altLang="en-GB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381760"/>
            <a:ext cx="7139940" cy="3528060"/>
          </a:xfrm>
        </p:spPr>
        <p:txBody>
          <a:bodyPr/>
          <a:lstStyle/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In this project, the ego vehicle must cross an intersection while another vehicle may behave in several possible ways.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car must observe the traffic situation, predict what may happen next, and choose a safe action.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This is a sequential decision-making problem: the car repeatedly observes, predicts, plans, acts, and then updates its plan.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>
              <a:solidFill>
                <a:srgbClr val="111827"/>
              </a:solidFill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GB"/>
          </a:p>
        </p:txBody>
      </p:sp>
      <p:sp>
        <p:nvSpPr>
          <p:cNvPr id="17" name="Rounded Rectangle 16"/>
          <p:cNvSpPr/>
          <p:nvPr/>
        </p:nvSpPr>
        <p:spPr>
          <a:xfrm>
            <a:off x="868680" y="5179060"/>
            <a:ext cx="5595620" cy="658495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Like crossing a road: look, think, then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89491" y="1417320"/>
            <a:ext cx="1126540" cy="440375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7" name="Rectangle 6"/>
          <p:cNvSpPr/>
          <p:nvPr/>
        </p:nvSpPr>
        <p:spPr>
          <a:xfrm>
            <a:off x="7599680" y="3055924"/>
            <a:ext cx="4403750" cy="112654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8" name="Rectangle 7"/>
          <p:cNvSpPr/>
          <p:nvPr/>
        </p:nvSpPr>
        <p:spPr>
          <a:xfrm>
            <a:off x="7804505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9" name="Rectangle 8"/>
          <p:cNvSpPr/>
          <p:nvPr/>
        </p:nvSpPr>
        <p:spPr>
          <a:xfrm>
            <a:off x="8726220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0" name="Rectangle 9"/>
          <p:cNvSpPr/>
          <p:nvPr/>
        </p:nvSpPr>
        <p:spPr>
          <a:xfrm>
            <a:off x="9647936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1" name="Rectangle 10"/>
          <p:cNvSpPr/>
          <p:nvPr/>
        </p:nvSpPr>
        <p:spPr>
          <a:xfrm>
            <a:off x="10569651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2" name="Rounded Rectangle 11"/>
          <p:cNvSpPr/>
          <p:nvPr/>
        </p:nvSpPr>
        <p:spPr>
          <a:xfrm>
            <a:off x="8060537" y="3363163"/>
            <a:ext cx="798819" cy="409651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7936" y="1929384"/>
            <a:ext cx="563270" cy="56327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3968" y="2492654"/>
            <a:ext cx="0" cy="972922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903968" y="2492654"/>
            <a:ext cx="0" cy="1433779"/>
          </a:xfrm>
          <a:prstGeom prst="line">
            <a:avLst/>
          </a:prstGeom>
          <a:ln w="254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903968" y="2492654"/>
            <a:ext cx="0" cy="1894637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8099425" y="3543300"/>
            <a:ext cx="1652270" cy="1998345"/>
          </a:xfrm>
          <a:prstGeom prst="arc">
            <a:avLst/>
          </a:prstGeom>
          <a:noFill/>
          <a:ln>
            <a:solidFill>
              <a:srgbClr val="C00000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Problem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7605"/>
            <a:ext cx="11522075" cy="4709160"/>
          </a:xfrm>
        </p:spPr>
        <p:txBody>
          <a:bodyPr/>
          <a:lstStyle/>
          <a:p>
            <a:r>
              <a:rPr lang="en-US" altLang="en-US" dirty="0"/>
              <a:t>The key challenge is </a:t>
            </a:r>
            <a:r>
              <a:rPr lang="en-US" altLang="en-US" dirty="0">
                <a:solidFill>
                  <a:srgbClr val="FF0000"/>
                </a:solidFill>
              </a:rPr>
              <a:t>uncertainty</a:t>
            </a:r>
            <a:r>
              <a:rPr lang="en-US" altLang="en-US" dirty="0"/>
              <a:t>.</a:t>
            </a:r>
            <a:endParaRPr lang="en-US" altLang="en-US" dirty="0"/>
          </a:p>
          <a:p>
            <a:endParaRPr lang="en-US" altLang="en-US" dirty="0">
              <a:solidFill>
                <a:srgbClr val="FF0000"/>
              </a:solidFill>
              <a:sym typeface="+mn-ea"/>
            </a:endParaRPr>
          </a:p>
          <a:p>
            <a:r>
              <a:rPr lang="en-US" altLang="en-US" dirty="0">
                <a:solidFill>
                  <a:srgbClr val="FF0000"/>
                </a:solidFill>
                <a:sym typeface="+mn-ea"/>
              </a:rPr>
              <a:t>At an intersection, the target vehicle may have several possible future motions. </a:t>
            </a:r>
            <a:r>
              <a:rPr lang="en-US" altLang="en-US" dirty="0">
                <a:sym typeface="+mn-ea"/>
              </a:rPr>
              <a:t>If the ego vehicle plans using only one predicted future, it may become over-confident and choose a risky action.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The research problem is how to convert uncertain multimodal predictions into safe control actions.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076960" y="2962910"/>
            <a:ext cx="4297680" cy="50292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One guessed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2760" y="378587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37080" y="390474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5840" y="390474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0200" y="4087622"/>
            <a:ext cx="731520" cy="0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25600" y="479171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DC2626"/>
                </a:solidFill>
              </a:defRPr>
            </a:pPr>
            <a:r>
              <a:t>Too confident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4800" y="2962910"/>
            <a:ext cx="4297680" cy="50292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172554"/>
                </a:solidFill>
              </a:defRPr>
            </a:pPr>
            <a:r>
              <a:t>Several possible futures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40600" y="378587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4920" y="390474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3680" y="390474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9718040" y="3557270"/>
            <a:ext cx="685800" cy="53035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18040" y="4087622"/>
            <a:ext cx="777240" cy="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18040" y="4087622"/>
            <a:ext cx="685800" cy="521208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77760" y="479171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t>More careful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Significance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5065"/>
            <a:ext cx="11257915" cy="3528060"/>
          </a:xfrm>
        </p:spPr>
        <p:txBody>
          <a:bodyPr/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Intersections are high-risk scenarios because vehicles interact closely and decisions must be made quickly.</a:t>
            </a: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A good autonomous driving planner should satisfy three goals:</a:t>
            </a:r>
            <a:endParaRPr lang="en-US" altLang="en-US" sz="1800">
              <a:latin typeface="UCL Sans" pitchFamily="2" charset="77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US" altLang="en-US" sz="1800" dirty="0"/>
          </a:p>
        </p:txBody>
      </p:sp>
      <p:sp>
        <p:nvSpPr>
          <p:cNvPr id="4" name="Rounded Rectangle 3"/>
          <p:cNvSpPr/>
          <p:nvPr/>
        </p:nvSpPr>
        <p:spPr>
          <a:xfrm>
            <a:off x="1097280" y="2574290"/>
            <a:ext cx="2560320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Safe</a:t>
            </a:r>
            <a:r>
              <a:rPr lang="en-US"/>
              <a:t>ty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754880" y="2574290"/>
            <a:ext cx="2560320" cy="10972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/>
              <a:t>Progress</a:t>
            </a:r>
            <a:endParaRPr lang="en-US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0" y="2574290"/>
            <a:ext cx="2560320" cy="109728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/>
              <a:t>Comfort</a:t>
            </a:r>
            <a:endParaRPr lang="en-US"/>
          </a:p>
        </p:txBody>
      </p:sp>
      <p:sp>
        <p:nvSpPr>
          <p:cNvPr id="11" name="TextBox 7"/>
          <p:cNvSpPr txBox="1"/>
          <p:nvPr/>
        </p:nvSpPr>
        <p:spPr>
          <a:xfrm>
            <a:off x="422910" y="3937000"/>
            <a:ext cx="11219180" cy="221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Safety</a:t>
            </a:r>
            <a:r>
              <a:rPr lang="en-US" altLang="en-US" sz="1800">
                <a:latin typeface="UCL Sans" pitchFamily="2" charset="77"/>
              </a:rPr>
              <a:t>: avoid collision.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Progress</a:t>
            </a:r>
            <a:r>
              <a:rPr lang="en-US" altLang="en-US" sz="1800">
                <a:latin typeface="UCL Sans" pitchFamily="2" charset="77"/>
              </a:rPr>
              <a:t>: avoid unnecessary stopping or hesitation.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Comfort</a:t>
            </a:r>
            <a:r>
              <a:rPr lang="en-US" altLang="en-US" sz="1800">
                <a:latin typeface="UCL Sans" pitchFamily="2" charset="77"/>
              </a:rPr>
              <a:t>: avoid sudden acceleration, braking, or steering.</a:t>
            </a: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900"/>
              </a:spcAft>
              <a:buFont typeface="Arial" panose="020B0604020202090204" pitchFamily="34" charset="0"/>
              <a:buNone/>
              <a:defRPr sz="22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If this problem is solved, autonomous vehicles can handle more complex urban driving situations with better safety and reliability.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latin typeface="UCL Sans SemiBold"/>
              </a:rPr>
              <a:t>State of the Art</a:t>
            </a:r>
            <a:endParaRPr lang="en-US" dirty="0"/>
          </a:p>
        </p:txBody>
      </p:sp>
      <p:sp>
        <p:nvSpPr>
          <p:cNvPr id="3" name="Text Box 2"/>
          <p:cNvSpPr txBox="1"/>
          <p:nvPr/>
        </p:nvSpPr>
        <p:spPr>
          <a:xfrm>
            <a:off x="-381000" y="6500495"/>
            <a:ext cx="1035748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SMPC: Stochastic Model Predictive Control; optimises actions while limiting collision risk under uncertainty.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68960" y="1327785"/>
            <a:ext cx="11155045" cy="4765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Current research: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MultiPath </a:t>
            </a:r>
            <a:r>
              <a:rPr lang="en-US" altLang="en-US" sz="1800">
                <a:latin typeface="UCL Sans" pitchFamily="2" charset="77"/>
              </a:rPr>
              <a:t>predicts several likely paths and the uncertainty of each path.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Good for representing uncertainty, but it does not choose the ego vehicle's action.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However, </a:t>
            </a:r>
            <a:r>
              <a:rPr lang="en-US" altLang="en-US" sz="1800" b="1">
                <a:latin typeface="UCL Sans" pitchFamily="2" charset="77"/>
              </a:rPr>
              <a:t>prediction alone does not decide what the ego car should do</a:t>
            </a:r>
            <a:r>
              <a:rPr lang="en-US" altLang="en-US" sz="1800">
                <a:latin typeface="UCL Sans" pitchFamily="2" charset="77"/>
              </a:rPr>
              <a:t>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planner must turn uncertain futures into safe actions.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SMPC uses probabilistic safety constraints to plan under uncertainty.</a:t>
            </a: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The remaining gap: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How to use multimodal predictions in a safe, efficient, closed-loop controller.</a:t>
            </a:r>
            <a:endParaRPr lang="en-US" altLang="en-US" sz="1800">
              <a:latin typeface="UCL Sans" pitchFamily="2" charset="77"/>
            </a:endParaRPr>
          </a:p>
          <a:p>
            <a:pPr lvl="1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My project: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Produce and evaluate risk-aware SMPC in an intersection scenario with CARLA simulator.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Hypothesis</a:t>
            </a:r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568960" y="1214755"/>
            <a:ext cx="10175240" cy="4772660"/>
            <a:chOff x="896" y="1687"/>
            <a:chExt cx="16024" cy="7516"/>
          </a:xfrm>
        </p:grpSpPr>
        <p:sp>
          <p:nvSpPr>
            <p:cNvPr id="4" name="Rounded Rectangle 3"/>
            <p:cNvSpPr/>
            <p:nvPr/>
          </p:nvSpPr>
          <p:spPr>
            <a:xfrm>
              <a:off x="896" y="1687"/>
              <a:ext cx="8981" cy="864"/>
            </a:xfrm>
            <a:prstGeom prst="roundRect">
              <a:avLst/>
            </a:prstGeom>
            <a:solidFill>
              <a:srgbClr val="DBEAFE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800" b="1">
                  <a:solidFill>
                    <a:srgbClr val="172554"/>
                  </a:solidFill>
                </a:defRPr>
              </a:pPr>
              <a:r>
                <a:rPr lang="en-US" altLang="en-US"/>
                <a:t>Planning With Several Futures Should Be Safer</a:t>
              </a:r>
              <a:endParaRPr lang="en-US" alt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96" y="2952"/>
              <a:ext cx="16024" cy="6251"/>
            </a:xfrm>
            <a:prstGeom prst="rect">
              <a:avLst/>
            </a:prstGeom>
            <a:noFill/>
          </p:spPr>
          <p:txBody>
            <a:bodyPr wrap="square" lIns="73152" rIns="73152">
              <a:spAutoFit/>
            </a:bodyPr>
            <a:lstStyle/>
            <a:p>
              <a:pPr mar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Research question: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Can a self-driving car cross an intersection more safely by </a:t>
              </a: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planning with several possible futures</a:t>
              </a: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 of the target vehicle?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Hypothesis: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If the ego vehicle considers </a:t>
              </a: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multimodal predictions</a:t>
              </a: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 and allocates risk inside the controller (SMPC), then it should be safer and less over-confident than weaker baselines.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Success criteria: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Higher minimum distance to the target vehicle.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 solver feasibility.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Reasonable completion time.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Smooth and stable control actions.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Execution plan</a:t>
            </a:r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331595" y="3808730"/>
            <a:ext cx="10694950" cy="2301875"/>
            <a:chOff x="687" y="5337"/>
            <a:chExt cx="17119" cy="3625"/>
          </a:xfrm>
        </p:grpSpPr>
        <p:grpSp>
          <p:nvGrpSpPr>
            <p:cNvPr id="3" name="Group 2"/>
            <p:cNvGrpSpPr/>
            <p:nvPr/>
          </p:nvGrpSpPr>
          <p:grpSpPr>
            <a:xfrm>
              <a:off x="687" y="5337"/>
              <a:ext cx="6834" cy="3322"/>
              <a:chOff x="687" y="3824"/>
              <a:chExt cx="6834" cy="3322"/>
            </a:xfrm>
          </p:grpSpPr>
          <p:sp>
            <p:nvSpPr>
              <p:cNvPr id="4" name="Text Box 3"/>
              <p:cNvSpPr txBox="1"/>
              <p:nvPr/>
            </p:nvSpPr>
            <p:spPr>
              <a:xfrm>
                <a:off x="687" y="4776"/>
                <a:ext cx="6834" cy="2370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No-TV baseline</a:t>
                </a: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s.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ideal path and time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  <a:sym typeface="+mn-ea"/>
                  </a:rPr>
                  <a:t>Fixed-risk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  <a:sym typeface="+mn-ea"/>
                  </a:rPr>
                  <a:t>basic uncertainty handling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Variable-risk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adaptive risk allocation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896" y="3824"/>
                <a:ext cx="5589" cy="792"/>
              </a:xfrm>
              <a:prstGeom prst="roundRect">
                <a:avLst/>
              </a:prstGeom>
              <a:solidFill>
                <a:srgbClr val="DCFCE7"/>
              </a:solidFill>
              <a:ln>
                <a:solidFill>
                  <a:srgbClr val="16A34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defRPr sz="1700" b="1">
                    <a:solidFill>
                      <a:srgbClr val="172554"/>
                    </a:solidFill>
                  </a:defRPr>
                </a:pPr>
                <a:r>
                  <a:t>Testing: compare policies</a:t>
                </a:r>
                <a:endParaRPr lang="en-US"/>
              </a:p>
            </p:txBody>
          </p:sp>
        </p:grpSp>
        <p:sp>
          <p:nvSpPr>
            <p:cNvPr id="5" name="Rounded Rectangle 4"/>
            <p:cNvSpPr/>
            <p:nvPr/>
          </p:nvSpPr>
          <p:spPr>
            <a:xfrm>
              <a:off x="8302" y="5337"/>
              <a:ext cx="5688" cy="792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>
              <a:solidFill>
                <a:schemeClr val="accent6"/>
              </a:solidFill>
              <a:prstDash val="solid"/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Evaluation: use metrics</a:t>
              </a:r>
              <a:endParaRPr lang="en-US"/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8206" y="6201"/>
              <a:ext cx="9600" cy="27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Completion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Solver feasibility.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Minimum distance to target vehicle.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Path deviation.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Comfort / jerk.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430655"/>
            <a:ext cx="11469370" cy="1636395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-456565" y="6524625"/>
            <a:ext cx="1267269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GMM: Gaussian Mixture Model; represents target-vehicle futures as weighted trajectories with probability, mean, and covariance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7550785" cy="838835"/>
          </a:xfrm>
        </p:spPr>
        <p:txBody>
          <a:bodyPr/>
          <a:p>
            <a:r>
              <a:rPr lang="en-GB">
                <a:latin typeface="UCL Sans SemiBold"/>
                <a:sym typeface="+mn-ea"/>
              </a:rPr>
              <a:t>Execution plan</a:t>
            </a: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449070"/>
            <a:ext cx="11729085" cy="426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Risk analysis</a:t>
            </a:r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385" y="1452880"/>
          <a:ext cx="11943080" cy="3127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50"/>
                <a:gridCol w="3886200"/>
                <a:gridCol w="4799330"/>
              </a:tblGrid>
              <a:tr h="6045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Risk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Why it matters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My response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Simulator is slow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Experiments take time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Run small pilots first</a:t>
                      </a:r>
                      <a:r>
                        <a:rPr lang="en-US" sz="1600"/>
                        <a:t>, then scale experiments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0388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Planner fails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Car may</a:t>
                      </a:r>
                      <a:r>
                        <a:rPr lang="en-US" sz="1600"/>
                        <a:t> </a:t>
                      </a:r>
                      <a:r>
                        <a:rPr lang="en-US" altLang="en-US" sz="1600"/>
                        <a:t>produce invalid actions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Save debug logs</a:t>
                      </a:r>
                      <a:r>
                        <a:rPr lang="en-US" sz="1600"/>
                        <a:t>, </a:t>
                      </a:r>
                      <a:r>
                        <a:rPr lang="en-US" altLang="en-US" sz="1600"/>
                        <a:t>use fallback analysis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GPUs from UCL are</a:t>
                      </a:r>
                      <a:r>
                        <a:rPr lang="en-US" altLang="en-US" sz="1600"/>
                        <a:t> limited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Experiments may be delayed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Use alternative GPUs such as Google Colab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Results are mixed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Hypothesis may not be fully supported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Analyse failure cases instead of hiding them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917440"/>
            <a:ext cx="10241280" cy="9601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main research risk is not only whether the car can complete one scenario, </a:t>
            </a:r>
            <a:endParaRPr lang="en-US" altLang="en-US" sz="1800">
              <a:latin typeface="UCL Sans" pitchFamily="2" charset="77"/>
            </a:endParaRPr>
          </a:p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but whether the method is reliable across different initial conditions.</a:t>
            </a:r>
            <a:endParaRPr lang="en-US" altLang="en-US"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people on a staircase&#10;&#10;AI-generated content may be incorrect."/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>
          <a:blip r:embed="rId1"/>
          <a:srcRect t="7707" b="7707"/>
          <a:stretch>
            <a:fillRect/>
          </a:stretch>
        </p:blipFill>
        <p:spPr/>
      </p:pic>
      <p:pic>
        <p:nvPicPr>
          <p:cNvPr id="7" name="Picture 6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CL Slides templates - Simple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CL Slides templates - Complex design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ma:_="" ma:contentTypeName="Document" ma:contentTypeID="0x010100A12A0662030DBC4F99C1FA9D93D14A4C" ma:versionID="601ee87aba0edee35dd0bd1031319f69" ma:contentTypeDescription="Create a new document." ma:contentTypeVersion="" ct:_="" ma:contentTypeScope="">
  <xsd:schema xmlns:p="http://schemas.microsoft.com/office/2006/metadata/properties" xmlns:ns2="1d368349-1023-48e7-96c9-f9d028f6f0fb" xmlns:ns3="1aa119c2-5735-4356-91ec-0ca074bf9097" xmlns:ns4="32f397aa-99c0-43f4-9b94-7b5d785faf95" xmlns:xsd="http://www.w3.org/2001/XMLSchema" xmlns:xs="http://www.w3.org/2001/XMLSchema" ma:root="true" ns2:_="" ns4:_="" targetNamespace="http://schemas.microsoft.com/office/2006/metadata/properties" ns3:_="" ma:fieldsID="ceaa2ff74debb88eeec5ab219e85c5f9">
    <xsd:import namespace="1d368349-1023-48e7-96c9-f9d028f6f0fb"/>
    <xsd:import namespace="1aa119c2-5735-4356-91ec-0ca074bf9097"/>
    <xsd:import namespace="32f397aa-99c0-43f4-9b94-7b5d785faf95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AutoKeyPoints"/>
                <xsd:element minOccurs="0" ref="ns2:MediaServiceKeyPoints"/>
                <xsd:element minOccurs="0" ref="ns2:MediaServiceAutoTags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DateTaken"/>
                <xsd:element minOccurs="0" ref="ns3:SharedWithUsers"/>
                <xsd:element minOccurs="0" ref="ns3:SharedWithDetails"/>
                <xsd:element minOccurs="0" ref="ns2:MediaServiceLocation"/>
                <xsd:element minOccurs="0" ref="ns2:MediaLengthInSeconds"/>
                <xsd:element minOccurs="0" ref="ns2:lcf76f155ced4ddcb4097134ff3c332f"/>
                <xsd:element minOccurs="0" ref="ns4:TaxCatchAll"/>
                <xsd:element minOccurs="0" ref="ns2:MediaServiceObjectDetectorVersions"/>
                <xsd:element minOccurs="0" ref="ns2:MediaServiceSearchProperties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1d368349-1023-48e7-96c9-f9d028f6f0fb">
    <xsd:import namespace="http://schemas.microsoft.com/office/2006/documentManagement/types"/>
    <xsd:import namespace="http://schemas.microsoft.com/office/infopath/2007/PartnerControls"/>
    <xsd:element ma:hidden="true" ma:index="8" ma:internalName="MediaServiceMetadata" name="MediaServiceMetadata" ma:displayName="MediaServiceMetadata" ma:readOnly="true" nillable="true">
      <xsd:simpleType>
        <xsd:restriction base="dms:Note"/>
      </xsd:simpleType>
    </xsd:element>
    <xsd:element ma:hidden="true" ma:index="9" ma:internalName="MediaServiceFastMetadata" name="MediaServiceFastMetadata" ma:displayName="MediaServiceFastMetadata" ma:readOnly="true" nillable="true">
      <xsd:simpleType>
        <xsd:restriction base="dms:Note"/>
      </xsd:simpleType>
    </xsd:element>
    <xsd:element ma:hidden="true" ma:index="10" ma:internalName="MediaServiceAutoKeyPoints" name="MediaServiceAutoKeyPoints" ma:displayName="MediaServiceAutoKeyPoints" ma:readOnly="true" nillable="true">
      <xsd:simpleType>
        <xsd:restriction base="dms:Note"/>
      </xsd:simpleType>
    </xsd:element>
    <xsd:element ma:index="11" ma:internalName="MediaServiceKeyPoints" name="MediaServiceKeyPoints" ma:displayName="KeyPoints" ma:readOnly="true" nillable="true">
      <xsd:simpleType>
        <xsd:restriction base="dms:Note">
          <xsd:maxLength value="255"/>
        </xsd:restriction>
      </xsd:simpleType>
    </xsd:element>
    <xsd:element ma:index="12" ma:internalName="MediaServiceAutoTags" name="MediaServiceAutoTags" ma:displayName="Tags" ma:readOnly="true" nillable="true">
      <xsd:simpleType>
        <xsd:restriction base="dms:Text"/>
      </xsd:simpleType>
    </xsd:element>
    <xsd:element ma:index="13" ma:internalName="MediaServiceOCR" name="MediaServiceOCR" ma:displayName="Extracted Text" ma:readOnly="true" nillable="true">
      <xsd:simpleType>
        <xsd:restriction base="dms:Note">
          <xsd:maxLength value="255"/>
        </xsd:restriction>
      </xsd:simpleType>
    </xsd:element>
    <xsd:element ma:hidden="true" ma:index="14" ma:internalName="MediaServiceGenerationTime" name="MediaServiceGenerationTime" ma:displayName="MediaServiceGenerationTime" ma:readOnly="true" nillable="true">
      <xsd:simpleType>
        <xsd:restriction base="dms:Text"/>
      </xsd:simpleType>
    </xsd:element>
    <xsd:element ma:hidden="true" ma:index="15" ma:internalName="MediaServiceEventHashCode" name="MediaServiceEventHashCode" ma:displayName="MediaServiceEventHashCode" ma:readOnly="true" nillable="true">
      <xsd:simpleType>
        <xsd:restriction base="dms:Text"/>
      </xsd:simpleType>
    </xsd:element>
    <xsd:element ma:hidden="true" ma:index="16" ma:internalName="MediaServiceDateTaken" name="MediaServiceDateTaken" ma:displayName="MediaServiceDateTaken" ma:readOnly="true" nillable="true">
      <xsd:simpleType>
        <xsd:restriction base="dms:Text"/>
      </xsd:simpleType>
    </xsd:element>
    <xsd:element ma:index="19" ma:internalName="MediaServiceLocation" name="MediaServiceLocation" ma:displayName="Location" ma:readOnly="true" nillable="true">
      <xsd:simpleType>
        <xsd:restriction base="dms:Text"/>
      </xsd:simpleType>
    </xsd:element>
    <xsd:element ma:hidden="true" ma:index="20" ma:internalName="MediaLengthInSeconds" name="MediaLengthInSeconds" ma:displayName="MediaLengthInSeconds" ma:readOnly="true" nillable="true">
      <xsd:simpleType>
        <xsd:restriction base="dms:Unknown"/>
      </xsd:simpleType>
    </xsd:element>
    <xsd:element ma:termSetId="09814cd3-568e-fe90-9814-8d621ff8fb84" ma:sspId="579a89b1-2c2c-4f7f-9bd7-7914fb13a02b" ma:taxonomy="true" ma:index="22" ma:internalName="lcf76f155ced4ddcb4097134ff3c332f" ma:taxonomyFieldName="MediaServiceImageTags" ma:fieldId="{5cf76f15-5ced-4ddc-b409-7134ff3c332f}" name="lcf76f155ced4ddcb4097134ff3c332f" ma:anchorId="fba54fb3-c3e1-fe81-a776-ca4b69148c4d" ma:displayName="Image Tags" ma:isKeyword="false" ma:taxonomyMulti="true" ma:readOnly="false" nillable="true" ma:open="true">
      <xsd:complexType>
        <xsd:sequence>
          <xsd:element maxOccurs="1" minOccurs="0" ref="pc:Terms"/>
        </xsd:sequence>
      </xsd:complexType>
    </xsd:element>
    <xsd:element ma:hidden="true" ma:index="24" ma:internalName="MediaServiceObjectDetectorVersions" name="MediaServiceObjectDetectorVersions" ma:displayName="MediaServiceObjectDetectorVersions" ma:indexed="true" ma:readOnly="true" nillable="true">
      <xsd:simpleType>
        <xsd:restriction base="dms:Text"/>
      </xsd:simpleType>
    </xsd:element>
    <xsd:element ma:hidden="true" ma:index="25" ma:internalName="MediaServiceSearchProperties" name="MediaServiceSearchProperties" ma:displayName="MediaServiceSearchProperties" ma:readOnly="true" nillable="true">
      <xsd:simpleType>
        <xsd:restriction base="dms:Note"/>
      </xsd:simple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1aa119c2-5735-4356-91ec-0ca074bf9097">
    <xsd:import namespace="http://schemas.microsoft.com/office/2006/documentManagement/types"/>
    <xsd:import namespace="http://schemas.microsoft.com/office/infopath/2007/PartnerControls"/>
    <xsd:element ma:index="17" ma:internalName="SharedWithUsers" name="SharedWithUsers" ma:displayName="Shared With" ma:readOnly="true" nillable="true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type="xsd:string" minOccurs="0" name="DisplayName"/>
                    <xsd:element type="dms:UserId" minOccurs="0" name="AccountId" nillable="true"/>
                    <xsd:element type="xsd:string" minOccurs="0" name="AccountType"/>
                  </xsd:sequence>
                </xsd:complexType>
              </xsd:element>
            </xsd:sequence>
          </xsd:extension>
        </xsd:complexContent>
      </xsd:complexType>
    </xsd:element>
    <xsd:element ma:index="18" ma:internalName="SharedWithDetails" name="SharedWithDetails" ma:displayName="Shared With Details" ma:readOnly="true" nillable="true">
      <xsd:simpleType>
        <xsd:restriction base="dms:Note">
          <xsd:maxLength value="255"/>
        </xsd:restriction>
      </xsd:simple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32f397aa-99c0-43f4-9b94-7b5d785faf95">
    <xsd:import namespace="http://schemas.microsoft.com/office/2006/documentManagement/types"/>
    <xsd:import namespace="http://schemas.microsoft.com/office/infopath/2007/PartnerControls"/>
    <xsd:element ma:hidden="true" ma:index="23" ma:internalName="TaxCatchAll" ma:web="32f397aa-99c0-43f4-9b94-7b5d785faf95" ma:showField="CatchAllData" name="TaxCatchAll" ma:displayName="Taxonomy Catch All Column" ma:list="{d117ceb8-fbd8-4cd5-a93e-9fc1393353fc}" nillable="true">
      <xsd:complexType>
        <xsd:complexContent>
          <xsd:extension base="dms:MultiChoiceLookup">
            <xsd:sequence>
              <xsd:element type="dms:Lookup" maxOccurs="unbounded" minOccurs="0" name="Value" nillable="true"/>
            </xsd:sequence>
          </xsd:extension>
        </xsd:complexContent>
      </xsd:complexType>
    </xsd:element>
  </xsd:schema>
  <xsd:schema xmlns="http://schemas.openxmlformats.org/package/2006/metadata/core-properties" xmlns:dc="http://purl.org/dc/elements/1.1/" xmlns:xsd="http://www.w3.org/2001/XMLSchema" xmlns:dcterms="http://purl.org/dc/terms/" xmlns:xsi="http://www.w3.org/2001/XMLSchema-instance" xmlns:odoc="http://schemas.microsoft.com/internal/obd" attributeFormDefault="unqualified" elementFormDefault="qualified" targetNamespace="http://schemas.openxmlformats.org/package/2006/metadata/core-properties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type="CT_coreProperties" name="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:index="0" type="xsd:string" maxOccurs="1" minOccurs="0" name="contentType" ma:displayName="Content Type"/>
        <xsd:element ma:index="4" maxOccurs="1" minOccurs="0" ma:displayName="Title" ref="dc:title"/>
        <xsd:element maxOccurs="1" minOccurs="0" ref="dc:subject"/>
        <xsd:element maxOccurs="1" minOccurs="0" ref="dc:description"/>
        <xsd:element type="xsd:string" maxOccurs="1" minOccurs="0" name="keywords"/>
        <xsd:element maxOccurs="1" minOccurs="0" ref="dc:language"/>
        <xsd:element type="xsd:string" maxOccurs="1" minOccurs="0" name="category"/>
        <xsd:element type="xsd:string" maxOccurs="1" minOccurs="0" name="version"/>
        <xsd:element type="xsd:string" maxOccurs="1" minOccurs="0" name="revision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type="xsd:string" maxOccurs="1" minOccurs="0" name="lastModifiedBy"/>
        <xsd:element maxOccurs="1" minOccurs="0" ref="dcterms:modified"/>
        <xsd:element type="xsd:string" maxOccurs="1" minOccurs="0" name="contentStatus"/>
      </xsd:all>
    </xsd:complexType>
  </xsd:schema>
  <xs:schema xmlns:pc="http://schemas.microsoft.com/office/infopath/2007/PartnerControls" xmlns:xs="http://www.w3.org/2001/XMLSchema" attributeFormDefault="unqualified" elementFormDefault="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type="xs:string" name="TermName"/>
    <xs:element type="xs:string" name="TermId"/>
  </xs:schema>
</ct:contentTypeSchema>
</file>

<file path=customXml/item2.xml><?xml version="1.0" encoding="utf-8"?>
<p:properties xmlns:pc="http://schemas.microsoft.com/office/infopath/2007/PartnerControls" xmlns:p="http://schemas.microsoft.com/office/2006/metadata/properties" xmlns:xsi="http://www.w3.org/2001/XMLSchema-instance">
  <documentManagement>
    <lcf76f155ced4ddcb4097134ff3c332f xmlns="1d368349-1023-48e7-96c9-f9d028f6f0fb">
      <Terms xmlns="http://schemas.microsoft.com/office/infopath/2007/PartnerControls"/>
    </lcf76f155ced4ddcb4097134ff3c332f>
    <TaxCatchAll xmlns="32f397aa-99c0-43f4-9b94-7b5d785faf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618EBA-795F-4487-B29C-4E0D2C8D67FE}">
  <ds:schemaRefs/>
</ds:datastoreItem>
</file>

<file path=customXml/itemProps2.xml><?xml version="1.0" encoding="utf-8"?>
<ds:datastoreItem xmlns:ds="http://schemas.openxmlformats.org/officeDocument/2006/customXml" ds:itemID="{6ECBB2BC-B86C-4646-888A-87EB55C19509}">
  <ds:schemaRefs/>
</ds:datastoreItem>
</file>

<file path=customXml/itemProps3.xml><?xml version="1.0" encoding="utf-8"?>
<ds:datastoreItem xmlns:ds="http://schemas.openxmlformats.org/officeDocument/2006/customXml" ds:itemID="{55700595-49AE-497B-9134-6C4B03871A7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UCL Slides templates - Simple theme</Template>
  <TotalTime>0</TotalTime>
  <Words>4092</Words>
  <Application>WPS Presentation</Application>
  <PresentationFormat>宽屏</PresentationFormat>
  <Paragraphs>189</Paragraphs>
  <Slides>11</Slides>
  <Notes>9</Notes>
  <HiddenSlides>0</HiddenSlides>
  <MMClips>1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Aptos</vt:lpstr>
      <vt:lpstr>Helvetica Neue</vt:lpstr>
      <vt:lpstr>UCL Sans SemiBold</vt:lpstr>
      <vt:lpstr>UCL Sans</vt:lpstr>
      <vt:lpstr>UCL Sans</vt:lpstr>
      <vt:lpstr>UCL Sans SemiBold</vt:lpstr>
      <vt:lpstr>Microsoft YaHei</vt:lpstr>
      <vt:lpstr>汉仪旗黑</vt:lpstr>
      <vt:lpstr>Arial Unicode MS</vt:lpstr>
      <vt:lpstr>宋体-简</vt:lpstr>
      <vt:lpstr>UCL Slides templates - Simple theme</vt:lpstr>
      <vt:lpstr>UCL Slides templates - Complex design theme</vt:lpstr>
      <vt:lpstr>PowerPoint 演示文稿</vt:lpstr>
      <vt:lpstr>Area of Research: Autonomous Driving</vt:lpstr>
      <vt:lpstr>Problem: Crossing an Intersection</vt:lpstr>
      <vt:lpstr>Problem: Uncertainty</vt:lpstr>
      <vt:lpstr>Significance</vt:lpstr>
      <vt:lpstr>State of the Art</vt:lpstr>
      <vt:lpstr>Hypothesis</vt:lpstr>
      <vt:lpstr>Execution plan</vt:lpstr>
      <vt:lpstr>Execution plan</vt:lpstr>
      <vt:lpstr>Risk analysis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ucypevl-test</dc:creator>
  <cp:lastModifiedBy>Jiaqi Xie</cp:lastModifiedBy>
  <cp:revision>432</cp:revision>
  <dcterms:created xsi:type="dcterms:W3CDTF">2026-05-31T14:49:20Z</dcterms:created>
  <dcterms:modified xsi:type="dcterms:W3CDTF">2026-05-31T14:49:20Z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0x010100A12A0662030DBC4F99C1FA9D93D14A4C</vt:lpwstr>
  </property>
  <property fmtid="{D5CDD505-2E9C-101B-9397-08002B2CF9AE}" pid="3" name="MediaServiceImageTags">
    <vt:lpwstr/>
  </property>
  <property fmtid="{D5CDD505-2E9C-101B-9397-08002B2CF9AE}" pid="4" name="ICV">
    <vt:lpwstr>D68932A3971E5BB62107176A6AD29C46_42</vt:lpwstr>
  </property>
  <property fmtid="{D5CDD505-2E9C-101B-9397-08002B2CF9AE}" pid="5" name="KSOProductBuildVer">
    <vt:lpwstr>1033-12.1.25897.25897</vt:lpwstr>
  </property>
</Properties>
</file>