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6" r:id="rId3"/>
  </p:sldMasterIdLst>
  <p:notesMasterIdLst>
    <p:notesMasterId r:id="rId5"/>
  </p:notesMasterIdLst>
  <p:handoutMasterIdLst>
    <p:handoutMasterId r:id="rId16"/>
  </p:handoutMasterIdLst>
  <p:sldIdLst>
    <p:sldId id="273" r:id="rId4"/>
    <p:sldId id="266" r:id="rId6"/>
    <p:sldId id="327" r:id="rId7"/>
    <p:sldId id="320" r:id="rId8"/>
    <p:sldId id="321" r:id="rId9"/>
    <p:sldId id="328" r:id="rId10"/>
    <p:sldId id="324" r:id="rId11"/>
    <p:sldId id="325" r:id="rId12"/>
    <p:sldId id="326" r:id="rId13"/>
    <p:sldId id="322" r:id="rId14"/>
    <p:sldId id="318" r:id="rId15"/>
  </p:sldIdLst>
  <p:sldSz cx="12192000" cy="6858000"/>
  <p:notesSz cx="6858000" cy="9144000"/>
  <p:embeddedFontLst>
    <p:embeddedFont>
      <p:font typeface="UCL Sans SemiBold" pitchFamily="2" charset="77"/>
      <p:regular r:id="rId20"/>
    </p:embeddedFont>
    <p:embeddedFont>
      <p:font typeface="UCL Sans" pitchFamily="2" charset="77"/>
      <p:regular r:id="rId21"/>
    </p:embeddedFont>
    <p:embeddedFont>
      <p:font typeface="UCL Sans"/>
      <p:regular r:id="rId22"/>
    </p:embeddedFont>
    <p:embeddedFont>
      <p:font typeface="UCL Sans SemiBold"/>
      <p:regular r:id="rId23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CL Slides" id="{64BE57D8-B9E0-4D48-BBC7-659295F1B008}">
          <p14:sldIdLst>
            <p14:sldId id="273"/>
            <p14:sldId id="266"/>
            <p14:sldId id="327"/>
            <p14:sldId id="320"/>
            <p14:sldId id="321"/>
            <p14:sldId id="328"/>
            <p14:sldId id="324"/>
            <p14:sldId id="325"/>
            <p14:sldId id="326"/>
            <p14:sldId id="322"/>
            <p14:sldId id="31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5C"/>
    <a:srgbClr val="5487FF"/>
    <a:srgbClr val="F56300"/>
    <a:srgbClr val="00A19D"/>
    <a:srgbClr val="ED357D"/>
    <a:srgbClr val="FAFAFA"/>
    <a:srgbClr val="3A1857"/>
    <a:srgbClr val="781C1C"/>
    <a:srgbClr val="57B444"/>
    <a:srgbClr val="9E1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86054"/>
  </p:normalViewPr>
  <p:slideViewPr>
    <p:cSldViewPr>
      <p:cViewPr varScale="1">
        <p:scale>
          <a:sx n="105" d="100"/>
          <a:sy n="105" d="100"/>
        </p:scale>
        <p:origin x="8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6" d="100"/>
          <a:sy n="146" d="100"/>
        </p:scale>
        <p:origin x="414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D93C3-F286-9C4B-98EC-FBB7F0C69BB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A0B70-CCF2-4444-BE01-B320D9CE5A4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8A70A-88C5-8F48-B495-07492CFAC4E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 title slide layout features a full background image with a main heading positioned in the top left corner on a dark purple panel. The presenters’ names and the date sit beneath the title. The UCL logo is placed in the bottom right corner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full image with full colour logo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 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full name logo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Faculty, School Department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3627624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135648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2273719" y="5854933"/>
            <a:ext cx="6240809" cy="58278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Type in your faculty/department/unit name here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Title -2-3 line heading an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/>
          <p:cNvSpPr>
            <a:spLocks noGrp="1"/>
          </p:cNvSpPr>
          <p:nvPr>
            <p:ph type="pic" idx="13"/>
          </p:nvPr>
        </p:nvSpPr>
        <p:spPr>
          <a:xfrm>
            <a:off x="1354138" y="2852936"/>
            <a:ext cx="10837862" cy="4005064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1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5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9575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409575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5145088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Divider2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596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35960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5735960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0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subheading,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7583834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Content Placeholder"/>
          <p:cNvSpPr>
            <a:spLocks noGrp="1"/>
          </p:cNvSpPr>
          <p:nvPr>
            <p:ph idx="1" hasCustomPrompt="1"/>
          </p:nvPr>
        </p:nvSpPr>
        <p:spPr>
          <a:xfrm>
            <a:off x="418539" y="1916826"/>
            <a:ext cx="7572936" cy="3758834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GB" dirty="0"/>
              <a:t>Space for graphs, images, charts, videos</a:t>
            </a:r>
            <a:endParaRPr lang="en-GB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subheading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9575" y="421180"/>
            <a:ext cx="4735513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446080" y="2422525"/>
            <a:ext cx="4686360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13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19" y="409575"/>
            <a:ext cx="7550693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40783" y="1916825"/>
            <a:ext cx="7550692" cy="3528300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subheading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8745" y="409575"/>
            <a:ext cx="7572730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27709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400">
                <a:solidFill>
                  <a:schemeClr val="accent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Subheading text style, UCL Sans regular 24pt</a:t>
            </a:r>
            <a:endParaRPr lang="en-GB" dirty="0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670235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8" name="Picture 7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3786188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br>
              <a:rPr lang="en-GB" dirty="0"/>
            </a:b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409575"/>
            <a:ext cx="6627019" cy="1006475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3 column title and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531" y="409575"/>
            <a:ext cx="3797231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6981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8937625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 – 2 column title, subheading, text, table,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294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2940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 descr="Add a clear, concise statement describing the figures presented in the table"/>
          <p:cNvSpPr>
            <a:spLocks noGrp="1" noRot="1" noMove="1" noResize="1" noEditPoints="1" noAdjustHandles="1" noChangeArrowheads="1" noChangeShapeType="1"/>
          </p:cNvSpPr>
          <p:nvPr>
            <p:ph type="tbl" sz="quarter" idx="12" hasCustomPrompt="1"/>
          </p:nvPr>
        </p:nvSpPr>
        <p:spPr>
          <a:xfrm>
            <a:off x="392940" y="3619500"/>
            <a:ext cx="2841625" cy="2828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4411004" y="826261"/>
            <a:ext cx="7369833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4411005" y="1419226"/>
            <a:ext cx="73714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5516672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56600" y="4438650"/>
            <a:ext cx="5516637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282387" y="2046440"/>
            <a:ext cx="5516673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282388" y="4438650"/>
            <a:ext cx="5494895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Content – Title - 2 column 1 image 1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4429696" cy="339868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2046440"/>
            <a:ext cx="6627019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full page image full colou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4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 noRot="1" noMove="1" noResize="1" noEditPoints="1" noAdjustHandles="1" noChangeArrowheads="1" noChangeShapeType="1"/>
          </p:cNvSpPr>
          <p:nvPr>
            <p:ph type="body" sz="quarter" idx="15" hasCustomPrompt="1"/>
          </p:nvPr>
        </p:nvSpPr>
        <p:spPr>
          <a:xfrm>
            <a:off x="434508" y="409575"/>
            <a:ext cx="8569680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34507" y="2145327"/>
            <a:ext cx="2717527" cy="174819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ext Placeholder 3"/>
          <p:cNvSpPr>
            <a:spLocks noGrp="1"/>
          </p:cNvSpPr>
          <p:nvPr>
            <p:ph type="body" sz="half" idx="25" hasCustomPrompt="1"/>
          </p:nvPr>
        </p:nvSpPr>
        <p:spPr>
          <a:xfrm>
            <a:off x="434508" y="4087765"/>
            <a:ext cx="27175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3481193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6" hasCustomPrompt="1"/>
          </p:nvPr>
        </p:nvSpPr>
        <p:spPr>
          <a:xfrm>
            <a:off x="3454053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349679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7" hasCustomPrompt="1"/>
          </p:nvPr>
        </p:nvSpPr>
        <p:spPr>
          <a:xfrm>
            <a:off x="6336110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218166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8" hasCustomPrompt="1"/>
          </p:nvPr>
        </p:nvSpPr>
        <p:spPr>
          <a:xfrm>
            <a:off x="9218166" y="4087765"/>
            <a:ext cx="25393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pic>
        <p:nvPicPr>
          <p:cNvPr id="3" name="Picture 2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_Title  - 2/3 line heading,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 noRot="1" noMove="1" noResize="1" noEditPoints="1" noAdjustHandles="1" noChangeArrowheads="1" noChangeShapeType="1"/>
          </p:cNvSpPr>
          <p:nvPr>
            <p:ph type="pic" idx="10" hasCustomPrompt="1"/>
          </p:nvPr>
        </p:nvSpPr>
        <p:spPr>
          <a:xfrm>
            <a:off x="-7474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100"/>
            </a:lvl1pPr>
            <a:lvl2pPr marL="457200" indent="0">
              <a:buNone/>
              <a:defRPr sz="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dirty="0"/>
              <a:t>Insert and image</a:t>
            </a:r>
            <a:endParaRPr lang="en-US" dirty="0"/>
          </a:p>
        </p:txBody>
      </p:sp>
      <p:pic>
        <p:nvPicPr>
          <p:cNvPr id="2" name="Picture 1" descr="UCL logo, University College London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1401472" y="1"/>
            <a:ext cx="5633204" cy="6858000"/>
          </a:xfrm>
          <a:prstGeom prst="rect">
            <a:avLst/>
          </a:prstGeom>
          <a:solidFill>
            <a:schemeClr val="accent1"/>
          </a:solidFill>
        </p:spPr>
        <p:txBody>
          <a:bodyPr lIns="360000" tIns="360000" rIns="360000" bIns="36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200" b="1" i="0">
                <a:solidFill>
                  <a:schemeClr val="accent3"/>
                </a:solidFill>
                <a:latin typeface="UCL Sans SemiBold" pitchFamily="2" charset="77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GB" sz="4200" dirty="0">
                <a:solidFill>
                  <a:schemeClr val="accent3"/>
                </a:solidFill>
              </a:rPr>
              <a:t>Main Headline style slide UCL Sans </a:t>
            </a:r>
            <a:r>
              <a:rPr lang="en-GB" sz="4200" dirty="0" err="1">
                <a:solidFill>
                  <a:schemeClr val="accent3"/>
                </a:solidFill>
              </a:rPr>
              <a:t>SemiBold</a:t>
            </a:r>
            <a:r>
              <a:rPr lang="en-GB" sz="4200" dirty="0">
                <a:solidFill>
                  <a:schemeClr val="accent3"/>
                </a:solidFill>
              </a:rPr>
              <a:t> 42pt 2-3 lines max</a:t>
            </a:r>
            <a:endParaRPr lang="en-US" sz="4200" dirty="0">
              <a:solidFill>
                <a:schemeClr val="accent3"/>
              </a:solidFill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91890" y="3455778"/>
            <a:ext cx="4807745" cy="70770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1791889" y="4503309"/>
            <a:ext cx="4807745" cy="26504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18px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8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1 column title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36124" y="409575"/>
            <a:ext cx="6604548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Divider section Title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36124" y="1916825"/>
            <a:ext cx="6604547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5" name="Rectangle 4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54138" y="0"/>
            <a:ext cx="18923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535" y="2448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 Divider – 2 column title, text, table,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82624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2"/>
          </p:nvPr>
        </p:nvSpPr>
        <p:spPr>
          <a:xfrm>
            <a:off x="1354139" y="3558615"/>
            <a:ext cx="2668022" cy="28289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5272740" y="882638"/>
            <a:ext cx="6508098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5275105" y="1419226"/>
            <a:ext cx="65073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353402" y="4438650"/>
            <a:ext cx="5070914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68636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686367" y="4438650"/>
            <a:ext cx="5049033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1343450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0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43449" y="2046440"/>
            <a:ext cx="4502211" cy="339868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2046440"/>
            <a:ext cx="5684838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4 column title, 4 images, 4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quarter" idx="15" hasCustomPrompt="1"/>
          </p:nvPr>
        </p:nvSpPr>
        <p:spPr>
          <a:xfrm>
            <a:off x="1354138" y="409575"/>
            <a:ext cx="8569680" cy="13779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6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5" y="4204795"/>
            <a:ext cx="2438375" cy="1242244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800" b="0" i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4014597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7" hasCustomPrompt="1"/>
          </p:nvPr>
        </p:nvSpPr>
        <p:spPr>
          <a:xfrm>
            <a:off x="4014597" y="4204795"/>
            <a:ext cx="2445318" cy="12689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675058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8" hasCustomPrompt="1"/>
          </p:nvPr>
        </p:nvSpPr>
        <p:spPr>
          <a:xfrm>
            <a:off x="6675058" y="4204795"/>
            <a:ext cx="2426413" cy="12422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335520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9320932" y="4204795"/>
            <a:ext cx="2459905" cy="12668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1993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title, 1 subheading, 2 image/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354139" y="421180"/>
            <a:ext cx="4303112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6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1354138" y="2422525"/>
            <a:ext cx="4303112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7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– full page image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391438" y="0"/>
            <a:ext cx="1180056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0890" y="6067187"/>
            <a:ext cx="1432605" cy="402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/>
              <a:t>Click to edit Master text styles</a:t>
            </a:r>
            <a:endParaRPr lang="en-GB" altLang="en-US"/>
          </a:p>
          <a:p>
            <a:pPr lvl="1"/>
            <a:r>
              <a:rPr lang="en-GB" altLang="en-US"/>
              <a:t>Second level</a:t>
            </a:r>
            <a:endParaRPr lang="en-GB" altLang="en-US"/>
          </a:p>
          <a:p>
            <a:pPr lvl="2"/>
            <a:r>
              <a:rPr lang="en-GB" altLang="en-US"/>
              <a:t>Third level</a:t>
            </a:r>
            <a:endParaRPr lang="en-GB" altLang="en-US"/>
          </a:p>
          <a:p>
            <a:pPr lvl="3"/>
            <a:r>
              <a:rPr lang="en-GB" altLang="en-US"/>
              <a:t>Fourth level</a:t>
            </a:r>
            <a:endParaRPr lang="en-GB" altLang="en-US"/>
          </a:p>
          <a:p>
            <a:pPr lvl="4"/>
            <a:r>
              <a:rPr lang="en-GB" altLang="en-US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 dirty="0"/>
              <a:t>Click to edit Master text styles</a:t>
            </a:r>
            <a:endParaRPr lang="en-GB" altLang="en-US" dirty="0"/>
          </a:p>
          <a:p>
            <a:pPr lvl="1"/>
            <a:r>
              <a:rPr lang="en-GB" altLang="en-US" dirty="0"/>
              <a:t>Second level</a:t>
            </a:r>
            <a:endParaRPr lang="en-GB" altLang="en-US" dirty="0"/>
          </a:p>
          <a:p>
            <a:pPr lvl="2"/>
            <a:r>
              <a:rPr lang="en-GB" altLang="en-US" dirty="0"/>
              <a:t>Third level</a:t>
            </a:r>
            <a:endParaRPr lang="en-GB" altLang="en-US" dirty="0"/>
          </a:p>
          <a:p>
            <a:pPr lvl="3"/>
            <a:r>
              <a:rPr lang="en-GB" altLang="en-US" dirty="0"/>
              <a:t>Fourth level</a:t>
            </a:r>
            <a:endParaRPr lang="en-GB" altLang="en-US" dirty="0"/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emf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1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 descr="A couple of women standing on a balcony&#10;&#10;AI-generated content may be incorrect."/>
          <p:cNvPicPr>
            <a:picLocks noGrp="1" noChangeAspect="1"/>
          </p:cNvPicPr>
          <p:nvPr>
            <p:ph type="pic" idx="10"/>
          </p:nvPr>
        </p:nvPicPr>
        <p:blipFill>
          <a:blip r:embed="rId1"/>
          <a:srcRect t="7813" b="7813"/>
          <a:stretch>
            <a:fillRect/>
          </a:stretch>
        </p:blipFill>
        <p:spPr>
          <a:xfrm>
            <a:off x="-1588" y="0"/>
            <a:ext cx="12192001" cy="6858000"/>
          </a:xfrm>
        </p:spPr>
      </p:pic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>
                <a:sym typeface="+mn-ea"/>
              </a:rPr>
              <a:t>Risk-Aware Planning for Autonomous Driving</a:t>
            </a:r>
            <a:endParaRPr lang="en-US" altLang="en-US"/>
          </a:p>
        </p:txBody>
      </p:sp>
      <p:sp>
        <p:nvSpPr>
          <p:cNvPr id="9" name="Rectangle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Jiaqi Xie</a:t>
            </a:r>
            <a:endParaRPr lang="en-US" altLang="en-GB">
              <a:latin typeface="UCL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25027138</a:t>
            </a:r>
            <a:endParaRPr lang="en-US" altLang="en-GB">
              <a:latin typeface="UCL Sans"/>
            </a:endParaRPr>
          </a:p>
        </p:txBody>
      </p:sp>
      <p:pic>
        <p:nvPicPr>
          <p:cNvPr id="4" name="Picture 3" descr="UCL logo, University College Lond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8" name="Rectangle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" y="266065"/>
            <a:ext cx="12091670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Area of Research</a:t>
            </a:r>
            <a:r>
              <a:rPr lang="en-US" altLang="en-GB">
                <a:latin typeface="UCL Sans SemiBold"/>
              </a:rPr>
              <a:t>: </a:t>
            </a:r>
            <a:r>
              <a:rPr lang="en-US" altLang="en-US">
                <a:latin typeface="UCL Sans SemiBold"/>
              </a:rPr>
              <a:t>Motion Planning under Uncertainty</a:t>
            </a:r>
            <a:endParaRPr lang="en-US" altLang="en-US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216025"/>
            <a:ext cx="10014585" cy="1986280"/>
          </a:xfrm>
        </p:spPr>
        <p:txBody>
          <a:bodyPr/>
          <a:lstStyle/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Autonomous driving requires a vehicle to perceive the environment, predict other road users, plan a safe trajectory, and control its motion.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This project focuses on motion planning under </a:t>
            </a:r>
            <a:r>
              <a:rPr lang="en-US" altLang="en-US" sz="1800" b="1">
                <a:solidFill>
                  <a:srgbClr val="111827"/>
                </a:solidFill>
              </a:rPr>
              <a:t>uncertainty</a:t>
            </a:r>
            <a:r>
              <a:rPr lang="en-US" altLang="en-US" sz="1800">
                <a:solidFill>
                  <a:srgbClr val="111827"/>
                </a:solidFill>
              </a:rPr>
              <a:t>:</a:t>
            </a:r>
            <a:endParaRPr lang="en-US" altLang="en-US" sz="1800">
              <a:solidFill>
                <a:srgbClr val="111827"/>
              </a:solidFill>
            </a:endParaRPr>
          </a:p>
          <a:p>
            <a:pPr marL="514350" lvl="1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how the ego car decides a safe action </a:t>
            </a:r>
            <a:r>
              <a:rPr lang="en-US" altLang="en-US" sz="1800" b="1">
                <a:solidFill>
                  <a:srgbClr val="111827"/>
                </a:solidFill>
              </a:rPr>
              <a:t>when another vehicle may slow down, continue, or move differently</a:t>
            </a:r>
            <a:r>
              <a:rPr lang="en-US" altLang="en-US" sz="1800">
                <a:solidFill>
                  <a:srgbClr val="111827"/>
                </a:solidFill>
              </a:rPr>
              <a:t>.</a:t>
            </a:r>
            <a:endParaRPr lang="en-US" altLang="en-US" sz="1800">
              <a:solidFill>
                <a:srgbClr val="111827"/>
              </a:solidFill>
            </a:endParaRPr>
          </a:p>
          <a:p>
            <a:pPr algn="l">
              <a:buClrTx/>
              <a:buSzTx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1800" y="3880485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Scenario</a:t>
            </a:r>
          </a:p>
        </p:txBody>
      </p:sp>
      <p:cxnSp>
        <p:nvCxnSpPr>
          <p:cNvPr id="18" name="Connector 4"/>
          <p:cNvCxnSpPr/>
          <p:nvPr/>
        </p:nvCxnSpPr>
        <p:spPr>
          <a:xfrm>
            <a:off x="184912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260600" y="3880485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Perception</a:t>
            </a:r>
            <a:endParaRPr lang="en-US" altLang="en-US"/>
          </a:p>
        </p:txBody>
      </p:sp>
      <p:cxnSp>
        <p:nvCxnSpPr>
          <p:cNvPr id="20" name="Connector 6"/>
          <p:cNvCxnSpPr/>
          <p:nvPr/>
        </p:nvCxnSpPr>
        <p:spPr>
          <a:xfrm>
            <a:off x="367792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26560" y="3880485"/>
            <a:ext cx="1417320" cy="68580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Prediction</a:t>
            </a:r>
            <a:endParaRPr lang="en-US" altLang="en-US"/>
          </a:p>
        </p:txBody>
      </p:sp>
      <p:cxnSp>
        <p:nvCxnSpPr>
          <p:cNvPr id="22" name="Connector 8"/>
          <p:cNvCxnSpPr/>
          <p:nvPr/>
        </p:nvCxnSpPr>
        <p:spPr>
          <a:xfrm>
            <a:off x="564388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92520" y="3880485"/>
            <a:ext cx="14173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Planning</a:t>
            </a:r>
            <a:endParaRPr lang="en-US" altLang="en-US"/>
          </a:p>
        </p:txBody>
      </p:sp>
      <p:cxnSp>
        <p:nvCxnSpPr>
          <p:cNvPr id="24" name="Connector 10"/>
          <p:cNvCxnSpPr/>
          <p:nvPr/>
        </p:nvCxnSpPr>
        <p:spPr>
          <a:xfrm>
            <a:off x="7609840" y="4227957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58480" y="3880485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rPr lang="en-US" altLang="en-US"/>
              <a:t>Control</a:t>
            </a:r>
            <a:endParaRPr lang="en-US" altLang="en-US"/>
          </a:p>
        </p:txBody>
      </p:sp>
      <p:cxnSp>
        <p:nvCxnSpPr>
          <p:cNvPr id="26" name="Connector 12"/>
          <p:cNvCxnSpPr/>
          <p:nvPr/>
        </p:nvCxnSpPr>
        <p:spPr>
          <a:xfrm>
            <a:off x="9575800" y="4227957"/>
            <a:ext cx="365759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804400" y="3880485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Results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431800" y="5299710"/>
            <a:ext cx="992187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  <a:sym typeface="+mn-ea"/>
              </a:rPr>
              <a:t>This is not about detecting objects.</a:t>
            </a:r>
            <a:endParaRPr lang="en-US" altLang="en-US" sz="1800">
              <a:solidFill>
                <a:srgbClr val="FF0000"/>
              </a:solidFill>
              <a:latin typeface="UCL Sans" pitchFamily="2" charset="77"/>
              <a:sym typeface="+mn-ea"/>
            </a:endParaRPr>
          </a:p>
          <a:p>
            <a:pPr marL="285750" indent="-285750" algn="l">
              <a:buClrTx/>
              <a:buSzTx/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FF0000"/>
                </a:solidFill>
                <a:latin typeface="UCL Sans" pitchFamily="2" charset="77"/>
                <a:sym typeface="+mn-ea"/>
              </a:rPr>
              <a:t>It is about turning uncertain predictions into safe driving decisions.</a:t>
            </a:r>
            <a:endParaRPr lang="en-US" altLang="en-US" sz="1800">
              <a:solidFill>
                <a:srgbClr val="FF0000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580495" cy="1009650"/>
          </a:xfrm>
        </p:spPr>
        <p:txBody>
          <a:bodyPr/>
          <a:lstStyle/>
          <a:p>
            <a:r>
              <a:rPr lang="en-US" altLang="en-GB">
                <a:latin typeface="UCL Sans SemiBold"/>
              </a:rPr>
              <a:t>Problem: </a:t>
            </a:r>
            <a:r>
              <a:rPr lang="en-US" altLang="en-US">
                <a:latin typeface="UCL Sans SemiBold"/>
              </a:rPr>
              <a:t>Crossing an Intersection Safely</a:t>
            </a:r>
            <a:endParaRPr lang="en-US" altLang="en-US">
              <a:latin typeface="UCL Sans SemiBold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381760"/>
            <a:ext cx="7139940" cy="3528060"/>
          </a:xfrm>
        </p:spPr>
        <p:txBody>
          <a:bodyPr/>
          <a:lstStyle/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ego vehicle must cross an intersection while another vehicle may behave in different ways.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indent="0">
              <a:buFont typeface="Arial" panose="020B0604020202090204" pitchFamily="34" charset="0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  <a:sym typeface="+mn-ea"/>
              </a:rPr>
              <a:t>The target vehicle may continue, slow down, or move slightly differently from what is expected.</a:t>
            </a: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indent="0">
              <a:buFont typeface="Arial" panose="020B0604020202090204" pitchFamily="34" charset="0"/>
              <a:defRPr sz="1500">
                <a:solidFill>
                  <a:srgbClr val="4B5563"/>
                </a:solidFill>
              </a:defRPr>
            </a:pPr>
            <a:endParaRPr lang="en-US" altLang="en-US" sz="1800">
              <a:solidFill>
                <a:srgbClr val="111827"/>
              </a:solidFill>
              <a:sym typeface="+mn-ea"/>
            </a:endParaRPr>
          </a:p>
          <a:p>
            <a:pPr marL="57150" indent="-285750">
              <a:buFont typeface="Arial" panose="020B0604020202090204" pitchFamily="34" charset="0"/>
              <a:buChar char="•"/>
              <a:defRPr sz="1500">
                <a:solidFill>
                  <a:srgbClr val="4B5563"/>
                </a:solidFill>
              </a:defRPr>
            </a:pPr>
            <a:r>
              <a:rPr lang="en-US" altLang="en-US" sz="1800">
                <a:solidFill>
                  <a:srgbClr val="111827"/>
                </a:solidFill>
              </a:rPr>
              <a:t>The decision must be updated repeatedly as new observations arrive.</a:t>
            </a:r>
            <a:endParaRPr lang="en-US" altLang="en-US" sz="1800">
              <a:solidFill>
                <a:srgbClr val="111827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68680" y="4820285"/>
            <a:ext cx="5595620" cy="658495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Like crossing a road: look, think, then move.</a:t>
            </a:r>
          </a:p>
        </p:txBody>
      </p:sp>
      <p:cxnSp>
        <p:nvCxnSpPr>
          <p:cNvPr id="16" name="Connector 15"/>
          <p:cNvCxnSpPr>
            <a:stCxn id="13" idx="2"/>
          </p:cNvCxnSpPr>
          <p:nvPr/>
        </p:nvCxnSpPr>
        <p:spPr>
          <a:xfrm>
            <a:off x="9550273" y="2492654"/>
            <a:ext cx="74295" cy="1872615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Box 2"/>
          <p:cNvSpPr txBox="1"/>
          <p:nvPr/>
        </p:nvSpPr>
        <p:spPr>
          <a:xfrm>
            <a:off x="618490" y="6003925"/>
            <a:ext cx="79298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800" b="1">
                <a:solidFill>
                  <a:schemeClr val="tx1"/>
                </a:solidFill>
                <a:latin typeface="UCL Sans" pitchFamily="2" charset="77"/>
              </a:rPr>
              <a:t>This is a sequential decision-making problem under uncertainty.</a:t>
            </a:r>
            <a:endParaRPr lang="en-US" altLang="en-US" sz="1800" b="1">
              <a:solidFill>
                <a:schemeClr val="tx1"/>
              </a:solidFill>
              <a:latin typeface="UCL Sans" pitchFamily="2" charset="77"/>
            </a:endParaRPr>
          </a:p>
        </p:txBody>
      </p:sp>
      <p:pic>
        <p:nvPicPr>
          <p:cNvPr id="18" name="UK left-hand traffic intersection 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0000" y="1380000"/>
            <a:ext cx="4550000" cy="4550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72170" y="2924810"/>
            <a:ext cx="360045" cy="216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428730" cy="1009650"/>
          </a:xfrm>
        </p:spPr>
        <p:txBody>
          <a:bodyPr/>
          <a:lstStyle/>
          <a:p>
            <a:r>
              <a:rPr lang="en-US" altLang="en-US"/>
              <a:t>Core Problem: One Predicted Future Is Not Enough</a:t>
            </a:r>
            <a:endParaRPr lang="en-US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157605"/>
            <a:ext cx="11522075" cy="2290445"/>
          </a:xfrm>
        </p:spPr>
        <p:txBody>
          <a:bodyPr/>
          <a:lstStyle/>
          <a:p>
            <a:pPr indent="0">
              <a:buFont typeface="Arial" panose="020B0604020202090204" pitchFamily="34" charset="0"/>
            </a:pPr>
            <a:r>
              <a:rPr lang="en-US" altLang="en-US" dirty="0"/>
              <a:t>If the planner trusts only one guessed target-vehicle trajector</a:t>
            </a:r>
            <a:r>
              <a:rPr lang="en-US" altLang="en-US" dirty="0"/>
              <a:t>y, it may: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choose an unsafe action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stop too conservatively</a:t>
            </a:r>
            <a:endParaRPr lang="en-US" altLang="en-US" dirty="0"/>
          </a:p>
          <a:p>
            <a:pPr marL="57150" indent="-285750">
              <a:buFont typeface="Arial" panose="020B0604020202090204" pitchFamily="34" charset="0"/>
              <a:buChar char="•"/>
            </a:pPr>
            <a:r>
              <a:rPr lang="en-US" altLang="en-US" dirty="0"/>
              <a:t>or fail to make progress.</a:t>
            </a:r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148715" y="3034665"/>
            <a:ext cx="9875520" cy="2150110"/>
            <a:chOff x="1696" y="4666"/>
            <a:chExt cx="15552" cy="3386"/>
          </a:xfrm>
        </p:grpSpPr>
        <p:sp>
          <p:nvSpPr>
            <p:cNvPr id="5" name="Rounded Rectangle 4"/>
            <p:cNvSpPr/>
            <p:nvPr/>
          </p:nvSpPr>
          <p:spPr>
            <a:xfrm>
              <a:off x="1696" y="4666"/>
              <a:ext cx="6768" cy="792"/>
            </a:xfrm>
            <a:prstGeom prst="roundRect">
              <a:avLst/>
            </a:prstGeom>
            <a:solidFill>
              <a:srgbClr val="FEE2E2"/>
            </a:solidFill>
            <a:ln>
              <a:solidFill>
                <a:srgbClr val="DC26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9728" rIns="109728" rtlCol="0" anchor="ctr"/>
            <a:lstStyle/>
            <a:p>
              <a:pPr algn="ctr">
                <a:defRPr sz="1700" b="1">
                  <a:solidFill>
                    <a:srgbClr val="DC2626"/>
                  </a:solidFill>
                </a:defRPr>
              </a:pPr>
              <a:r>
                <a:t>One guessed future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776" y="5962"/>
              <a:ext cx="4464" cy="1037"/>
            </a:xfrm>
            <a:prstGeom prst="rect">
              <a:avLst/>
            </a:prstGeom>
            <a:solidFill>
              <a:srgbClr val="374151"/>
            </a:solidFill>
            <a:ln>
              <a:solidFill>
                <a:srgbClr val="37415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08" y="6149"/>
              <a:ext cx="1296" cy="648"/>
            </a:xfrm>
            <a:prstGeom prst="roundRect">
              <a:avLst/>
            </a:prstGeom>
            <a:solidFill>
              <a:srgbClr val="2563EB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EGO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584" y="6149"/>
              <a:ext cx="936" cy="605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TV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6520" y="6437"/>
              <a:ext cx="1152" cy="0"/>
            </a:xfrm>
            <a:prstGeom prst="line">
              <a:avLst/>
            </a:prstGeom>
            <a:ln w="38100">
              <a:solidFill>
                <a:srgbClr val="DC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2560" y="7546"/>
              <a:ext cx="4896" cy="432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800" b="1">
                  <a:solidFill>
                    <a:srgbClr val="DC2626"/>
                  </a:solidFill>
                </a:defRPr>
              </a:pPr>
              <a:r>
                <a:t>Too confident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0480" y="4666"/>
              <a:ext cx="6768" cy="792"/>
            </a:xfrm>
            <a:prstGeom prst="roundRect">
              <a:avLst/>
            </a:prstGeom>
            <a:solidFill>
              <a:srgbClr val="DCFCE7"/>
            </a:solidFill>
            <a:ln>
              <a:solidFill>
                <a:srgbClr val="16A3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9728" rIns="109728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Several possible futures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1560" y="5962"/>
              <a:ext cx="4464" cy="1037"/>
            </a:xfrm>
            <a:prstGeom prst="rect">
              <a:avLst/>
            </a:prstGeom>
            <a:solidFill>
              <a:srgbClr val="374151"/>
            </a:solidFill>
            <a:ln>
              <a:solidFill>
                <a:srgbClr val="37415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1992" y="6149"/>
              <a:ext cx="1296" cy="648"/>
            </a:xfrm>
            <a:prstGeom prst="roundRect">
              <a:avLst/>
            </a:prstGeom>
            <a:solidFill>
              <a:srgbClr val="2563EB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EGO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4368" y="6149"/>
              <a:ext cx="936" cy="605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F9731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100" b="1">
                  <a:solidFill>
                    <a:srgbClr val="FFFFFF"/>
                  </a:solidFill>
                </a:defRPr>
              </a:pPr>
              <a:r>
                <a:t>TV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5304" y="5602"/>
              <a:ext cx="1080" cy="835"/>
            </a:xfrm>
            <a:prstGeom prst="line">
              <a:avLst/>
            </a:prstGeom>
            <a:ln w="38100">
              <a:solidFill>
                <a:srgbClr val="16A34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15304" y="6437"/>
              <a:ext cx="1224" cy="0"/>
            </a:xfrm>
            <a:prstGeom prst="line">
              <a:avLst/>
            </a:prstGeom>
            <a:ln w="38100">
              <a:solidFill>
                <a:srgbClr val="F9731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5304" y="6437"/>
              <a:ext cx="1080" cy="821"/>
            </a:xfrm>
            <a:prstGeom prst="line">
              <a:avLst/>
            </a:prstGeom>
            <a:ln w="38100">
              <a:solidFill>
                <a:srgbClr val="DC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3103" y="7472"/>
              <a:ext cx="2242" cy="58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>
                <a:defRPr sz="1800" b="1">
                  <a:solidFill>
                    <a:srgbClr val="16A34A"/>
                  </a:solidFill>
                </a:defRPr>
              </a:pPr>
              <a:r>
                <a:rPr lang="en-US" altLang="en-US"/>
                <a:t>Risk-aware</a:t>
              </a:r>
              <a:endParaRPr lang="en-US" altLang="en-US"/>
            </a:p>
          </p:txBody>
        </p:sp>
      </p:grpSp>
      <p:sp>
        <p:nvSpPr>
          <p:cNvPr id="19" name="Text Box 18"/>
          <p:cNvSpPr txBox="1"/>
          <p:nvPr/>
        </p:nvSpPr>
        <p:spPr>
          <a:xfrm>
            <a:off x="352425" y="5446395"/>
            <a:ext cx="1108837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800" b="1" dirty="0">
                <a:solidFill>
                  <a:schemeClr val="tx1"/>
                </a:solidFill>
                <a:latin typeface="UCL Sans" pitchFamily="2" charset="77"/>
                <a:sym typeface="+mn-ea"/>
              </a:rPr>
              <a:t>The research problem is:</a:t>
            </a:r>
            <a:endParaRPr lang="en-US" altLang="en-US" sz="1800" b="1" dirty="0">
              <a:solidFill>
                <a:schemeClr val="tx1"/>
              </a:solidFill>
              <a:latin typeface="UCL Sans" pitchFamily="2" charset="77"/>
              <a:sym typeface="+mn-ea"/>
            </a:endParaRPr>
          </a:p>
          <a:p>
            <a:pPr indent="457200"/>
            <a:r>
              <a:rPr lang="en-US" altLang="en-US" sz="1800" b="1" dirty="0">
                <a:solidFill>
                  <a:schemeClr val="tx1"/>
                </a:solidFill>
                <a:latin typeface="UCL Sans" pitchFamily="2" charset="77"/>
                <a:sym typeface="+mn-ea"/>
              </a:rPr>
              <a:t>how can the car use multiple predicted target-vehicle trajectories to choose a safe action?</a:t>
            </a:r>
            <a:endParaRPr lang="en-US" altLang="en-US" sz="1800" b="1" dirty="0">
              <a:solidFill>
                <a:schemeClr val="tx1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266065"/>
            <a:ext cx="1153350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Significance</a:t>
            </a:r>
            <a:r>
              <a:rPr lang="en-US" altLang="en-GB">
                <a:latin typeface="UCL Sans SemiBold"/>
              </a:rPr>
              <a:t>: </a:t>
            </a:r>
            <a:r>
              <a:rPr lang="en-US" altLang="en-US">
                <a:latin typeface="UCL Sans SemiBold"/>
              </a:rPr>
              <a:t>Safety Requires More Than Stopping</a:t>
            </a:r>
            <a:endParaRPr lang="en-US" altLang="en-US">
              <a:latin typeface="UCL Sans SemiBold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690" y="1298575"/>
            <a:ext cx="11257915" cy="3528060"/>
          </a:xfrm>
        </p:spPr>
        <p:txBody>
          <a:bodyPr/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ym typeface="+mn-ea"/>
              </a:rPr>
              <a:t>Intersections are high-risk scenarios because vehicles interact closely and decisions must be made quickly.</a:t>
            </a:r>
            <a:endParaRPr lang="en-US" altLang="en-US"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A useful planner must balance three goals:</a:t>
            </a:r>
            <a:endParaRPr lang="en-US" altLang="en-US" sz="1800">
              <a:latin typeface="UCL Sans" pitchFamily="2" charset="77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US" altLang="en-US" sz="1800" dirty="0"/>
          </a:p>
        </p:txBody>
      </p:sp>
      <p:sp>
        <p:nvSpPr>
          <p:cNvPr id="4" name="Rounded Rectangle 3"/>
          <p:cNvSpPr/>
          <p:nvPr/>
        </p:nvSpPr>
        <p:spPr>
          <a:xfrm>
            <a:off x="738505" y="3004820"/>
            <a:ext cx="2900045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Safe</a:t>
            </a:r>
            <a:r>
              <a:rPr lang="en-US"/>
              <a:t>ty</a:t>
            </a:r>
            <a:endParaRPr 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collision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36110" y="3004820"/>
            <a:ext cx="2950845" cy="10972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/>
              <a:t>Progress</a:t>
            </a:r>
            <a:endParaRPr lang="en-US" alt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unnecessary stopping or hesitation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35950" y="3004820"/>
            <a:ext cx="2880360" cy="109728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/>
              <a:t>Comfort</a:t>
            </a:r>
            <a:endParaRPr lang="en-US"/>
          </a:p>
          <a:p>
            <a:pPr algn="ctr">
              <a:defRPr sz="2800" b="1">
                <a:solidFill>
                  <a:srgbClr val="172554"/>
                </a:solidFill>
              </a:defRPr>
            </a:pPr>
            <a:r>
              <a:rPr lang="en-US" altLang="en-US" sz="1600" b="0">
                <a:solidFill>
                  <a:schemeClr val="accent5">
                    <a:lumMod val="50000"/>
                  </a:schemeClr>
                </a:solidFill>
                <a:latin typeface="UCL Sans" pitchFamily="2" charset="77"/>
                <a:sym typeface="+mn-ea"/>
              </a:rPr>
              <a:t>avoid sudden braking or steering</a:t>
            </a:r>
            <a:endParaRPr lang="en-US" altLang="en-US" sz="1600" b="0">
              <a:solidFill>
                <a:schemeClr val="accent5">
                  <a:lumMod val="50000"/>
                </a:schemeClr>
              </a:solidFill>
              <a:latin typeface="UCL Sans" pitchFamily="2" charset="77"/>
              <a:sym typeface="+mn-ea"/>
            </a:endParaRPr>
          </a:p>
        </p:txBody>
      </p:sp>
      <p:sp>
        <p:nvSpPr>
          <p:cNvPr id="11" name="TextBox 7"/>
          <p:cNvSpPr txBox="1"/>
          <p:nvPr/>
        </p:nvSpPr>
        <p:spPr>
          <a:xfrm>
            <a:off x="422910" y="4798060"/>
            <a:ext cx="1121918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This is worth prioritising because prediction errors become real safety risks only when they affect the vehicle's action.</a:t>
            </a:r>
            <a:endParaRPr lang="en-US" altLang="en-US" sz="1800">
              <a:solidFill>
                <a:schemeClr val="tx1"/>
              </a:solidFill>
              <a:latin typeface="UCL Sans" pitchFamily="2" charset="77"/>
            </a:endParaRPr>
          </a:p>
          <a:p>
            <a:pPr marL="285750" indent="-285750">
              <a:spcAft>
                <a:spcPts val="900"/>
              </a:spcAft>
              <a:buFont typeface="Arial" panose="020B0604020202090204" pitchFamily="34" charset="0"/>
              <a:buChar char="•"/>
              <a:defRPr sz="22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If solved, the vehicle can cross complex intersections more reliably without simply becoming over-cautious.</a:t>
            </a:r>
            <a:endParaRPr lang="en-US" altLang="en-US" sz="1800">
              <a:solidFill>
                <a:schemeClr val="tx1"/>
              </a:solidFill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1155680" cy="1009650"/>
          </a:xfrm>
        </p:spPr>
        <p:txBody>
          <a:bodyPr/>
          <a:lstStyle/>
          <a:p>
            <a:r>
              <a:rPr lang="en-GB" dirty="0">
                <a:latin typeface="UCL Sans SemiBold"/>
              </a:rPr>
              <a:t>State of the Art</a:t>
            </a:r>
            <a:r>
              <a:rPr lang="en-US" altLang="en-GB" dirty="0">
                <a:latin typeface="UCL Sans SemiBold"/>
              </a:rPr>
              <a:t>: </a:t>
            </a:r>
            <a:r>
              <a:rPr lang="en-US" altLang="en-US" dirty="0">
                <a:latin typeface="UCL Sans SemiBold"/>
              </a:rPr>
              <a:t>From Prediction to Safe Planning</a:t>
            </a:r>
            <a:endParaRPr lang="en-US" altLang="en-US" dirty="0">
              <a:latin typeface="UCL Sans Semi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68960" y="5143500"/>
            <a:ext cx="11155045" cy="11334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indent="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>
                <a:solidFill>
                  <a:schemeClr val="tx1"/>
                </a:solidFill>
                <a:latin typeface="UCL Sans" pitchFamily="2" charset="77"/>
              </a:rPr>
              <a:t>Remaining Gap: </a:t>
            </a:r>
            <a:endParaRPr lang="en-US" altLang="en-US" sz="1800">
              <a:solidFill>
                <a:srgbClr val="FF0000"/>
              </a:solidFill>
              <a:latin typeface="UCL Sans" pitchFamily="2" charset="77"/>
            </a:endParaRPr>
          </a:p>
          <a:p>
            <a:pPr marL="0" indent="457200">
              <a:spcAft>
                <a:spcPts val="600"/>
              </a:spcAft>
              <a:buFont typeface="Arial" panose="020B0604020202090204" pitchFamily="34" charset="0"/>
              <a:buNone/>
              <a:defRPr sz="1700">
                <a:solidFill>
                  <a:srgbClr val="111827"/>
                </a:solidFill>
              </a:defRPr>
            </a:pPr>
            <a:r>
              <a:rPr lang="en-US" altLang="en-US" sz="1800" b="1">
                <a:solidFill>
                  <a:schemeClr val="accent2"/>
                </a:solidFill>
                <a:latin typeface="UCL Sans" pitchFamily="2" charset="77"/>
              </a:rPr>
              <a:t>we need a closed-loop planner that uses multimodal predictions while balancing safety, progress, feasibility, and comfort.</a:t>
            </a:r>
            <a:endParaRPr lang="en-US" altLang="en-US" sz="1800" b="1">
              <a:solidFill>
                <a:schemeClr val="accent2"/>
              </a:solidFill>
              <a:latin typeface="UCL Sans" pitchFamily="2" charset="77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7630" y="1480185"/>
          <a:ext cx="11943080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920"/>
                <a:gridCol w="3592830"/>
                <a:gridCol w="4799330"/>
              </a:tblGrid>
              <a:tr h="685165">
                <a:tc>
                  <a:txBody>
                    <a:bodyPr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altLang="en-US" sz="1600"/>
                        <a:t>Approach</a:t>
                      </a:r>
                      <a:endParaRPr lang="en-US" altLang="en-US" sz="1600"/>
                    </a:p>
                  </a:txBody>
                  <a:tcPr marL="36576" marR="36576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altLang="en-US" sz="1600"/>
                        <a:t>Contribution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altLang="en-US" sz="1600"/>
                        <a:t>Remaining limitation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002060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/>
                        <a:t>Multimodal prediction, </a:t>
                      </a:r>
                      <a:endParaRPr lang="en-US" altLang="en-US" sz="1600" b="1"/>
                    </a:p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/>
                        <a:t>e.g. MultiPath</a:t>
                      </a:r>
                      <a:endParaRPr lang="en-US" altLang="en-US" sz="1600" b="1"/>
                    </a:p>
                  </a:txBody>
                  <a:tcPr marL="36576" marR="36576" anchor="ctr">
                    <a:lnL>
                      <a:noFill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0"/>
                        <a:t>predicts several possible trajectories</a:t>
                      </a:r>
                      <a:endParaRPr lang="en-US" altLang="en-US" sz="1600" b="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0"/>
                        <a:t>does not choose the ego action</a:t>
                      </a:r>
                      <a:endParaRPr lang="en-US" altLang="en-US" sz="1600" b="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88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>
                          <a:sym typeface="+mn-ea"/>
                        </a:rPr>
                        <a:t>Learning-based planners</a:t>
                      </a:r>
                      <a:endParaRPr lang="en-US" altLang="en-US" sz="1600" b="1"/>
                    </a:p>
                  </a:txBody>
                  <a:tcPr marL="36576" marR="36576" anchor="ctr"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>
                          <a:sym typeface="+mn-ea"/>
                        </a:rPr>
                        <a:t>can learn complex behaviour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>
                          <a:sym typeface="+mn-ea"/>
                        </a:rPr>
                        <a:t>hard to guarantee safety and interpret failure</a:t>
                      </a:r>
                      <a:r>
                        <a:rPr lang="en-US" altLang="en-US" sz="1600"/>
                        <a:t>s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/>
                        <a:t>Rule-based safety methods</a:t>
                      </a:r>
                      <a:endParaRPr lang="en-US" altLang="en-US" sz="1600" b="1"/>
                    </a:p>
                  </a:txBody>
                  <a:tcPr marL="36576" marR="36576" anchor="ctr"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provide simple safety guarantees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may be too rigid in interactive scenarios</a:t>
                      </a:r>
                      <a:endParaRPr lang="en-US" altLang="en-US" sz="1600"/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>
                          <a:solidFill>
                            <a:srgbClr val="FF0000"/>
                          </a:solidFill>
                          <a:sym typeface="+mn-ea"/>
                        </a:rPr>
                        <a:t>Risk-aware SMPC</a:t>
                      </a:r>
                      <a:endParaRPr lang="en-US" altLang="en-US" sz="16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 marL="36576" marR="36576" anchor="ctr"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>
                          <a:solidFill>
                            <a:srgbClr val="FF0000"/>
                          </a:solidFill>
                          <a:sym typeface="+mn-ea"/>
                        </a:rPr>
                        <a:t>plans under uncertainty</a:t>
                      </a:r>
                      <a:endParaRPr lang="en-US" altLang="en-US" sz="16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 b="1">
                          <a:solidFill>
                            <a:srgbClr val="FF0000"/>
                          </a:solidFill>
                          <a:sym typeface="+mn-ea"/>
                        </a:rPr>
                        <a:t>can become conservative or infeasible</a:t>
                      </a:r>
                      <a:r>
                        <a:rPr lang="en-US" altLang="en-US" sz="1600" b="1">
                          <a:solidFill>
                            <a:srgbClr val="FF0000"/>
                          </a:solidFill>
                        </a:rPr>
                        <a:t> </a:t>
                      </a:r>
                      <a:endParaRPr lang="en-US" altLang="en-US" sz="1600" b="1">
                        <a:solidFill>
                          <a:srgbClr val="FF0000"/>
                        </a:solidFill>
                      </a:endParaRPr>
                    </a:p>
                  </a:txBody>
                  <a:tcPr marL="36576" marR="36576"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0" y="6525260"/>
            <a:ext cx="1099248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400" b="1">
                <a:solidFill>
                  <a:srgbClr val="111827"/>
                </a:solidFill>
                <a:latin typeface="UCL Sans" pitchFamily="2" charset="77"/>
                <a:sym typeface="+mn-ea"/>
              </a:rPr>
              <a:t>SMPC = Stochastic Model Predictive Control: a planning method that chooses safe actions while accounting for uncertainty.</a:t>
            </a:r>
            <a:endParaRPr lang="en-US" altLang="en-US" sz="1400" b="1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Hypothesis</a:t>
            </a:r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322509" y="1358265"/>
            <a:ext cx="11715821" cy="4676140"/>
            <a:chOff x="1209" y="1913"/>
            <a:chExt cx="17775" cy="7364"/>
          </a:xfrm>
        </p:grpSpPr>
        <p:sp>
          <p:nvSpPr>
            <p:cNvPr id="4" name="Rounded Rectangle 3"/>
            <p:cNvSpPr/>
            <p:nvPr/>
          </p:nvSpPr>
          <p:spPr>
            <a:xfrm>
              <a:off x="1223" y="1913"/>
              <a:ext cx="17477" cy="1152"/>
            </a:xfrm>
            <a:prstGeom prst="roundRect">
              <a:avLst/>
            </a:prstGeom>
            <a:solidFill>
              <a:srgbClr val="DBEAFE"/>
            </a:solidFill>
            <a:ln>
              <a:solidFill>
                <a:srgbClr val="2563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  <a:sym typeface="+mn-ea"/>
                </a:rPr>
                <a:t>Research question: 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  <a:sym typeface="+mn-ea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  <a:sym typeface="+mn-ea"/>
                </a:rPr>
                <a:t>Can a self-driving car cross an intersection more safely by considering several possible futures?</a:t>
              </a:r>
              <a:endParaRPr lang="en-US" alt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09" y="2650"/>
              <a:ext cx="17775" cy="6627"/>
            </a:xfrm>
            <a:prstGeom prst="rect">
              <a:avLst/>
            </a:prstGeom>
            <a:noFill/>
          </p:spPr>
          <p:txBody>
            <a:bodyPr wrap="square" lIns="73152" rIns="73152">
              <a:noAutofit/>
            </a:bodyPr>
            <a:lstStyle/>
            <a:p>
              <a:pPr marL="0" indent="0" algn="l"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Hypothesis: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Using multimodal predictions in SMPC should keep the ego vehicle safer without making it unnecessarily hesitant.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lvl="1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algn="l"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Success criteria: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Higher minimum distance to the target vehicle.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High solver feasibility.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Reasonable completion time.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Smooth and stable control actions.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0" lvl="0" indent="0" algn="l">
                <a:buFont typeface="Arial" panose="020B0604020202090204" pitchFamily="34" charset="0"/>
                <a:buNone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Failure condition &amp; Alternative explanation: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  <a:defRPr sz="2300" b="1">
                  <a:solidFill>
                    <a:srgbClr val="172554"/>
                  </a:solidFill>
                </a:defRPr>
              </a:pPr>
              <a:r>
                <a:rPr lang="en-US" altLang="en-US" sz="1800" b="0">
                  <a:solidFill>
                    <a:srgbClr val="111827"/>
                  </a:solidFill>
                  <a:latin typeface="UCL Sans" pitchFamily="2" charset="77"/>
                </a:rPr>
                <a:t>If the method is unsafe, infeasible, or only stays safe by stopping too much</a:t>
              </a:r>
              <a:endParaRPr lang="en-US" altLang="en-US" sz="1800" b="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0022205" cy="1009650"/>
          </a:xfrm>
        </p:spPr>
        <p:txBody>
          <a:bodyPr/>
          <a:lstStyle/>
          <a:p>
            <a:r>
              <a:rPr lang="en-GB">
                <a:latin typeface="UCL Sans SemiBold"/>
              </a:rPr>
              <a:t>Execution plan</a:t>
            </a:r>
            <a:endParaRPr lang="en-US" altLang="en-US">
              <a:latin typeface="UCL Sans SemiBold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1053758" y="3306445"/>
            <a:ext cx="11331562" cy="2558415"/>
            <a:chOff x="-332" y="5337"/>
            <a:chExt cx="18138" cy="4029"/>
          </a:xfrm>
        </p:grpSpPr>
        <p:grpSp>
          <p:nvGrpSpPr>
            <p:cNvPr id="3" name="Group 2"/>
            <p:cNvGrpSpPr/>
            <p:nvPr/>
          </p:nvGrpSpPr>
          <p:grpSpPr>
            <a:xfrm>
              <a:off x="-332" y="5337"/>
              <a:ext cx="7622" cy="3322"/>
              <a:chOff x="-332" y="3824"/>
              <a:chExt cx="7622" cy="3322"/>
            </a:xfrm>
          </p:grpSpPr>
          <p:sp>
            <p:nvSpPr>
              <p:cNvPr id="4" name="Text Box 3"/>
              <p:cNvSpPr txBox="1"/>
              <p:nvPr/>
            </p:nvSpPr>
            <p:spPr>
              <a:xfrm>
                <a:off x="-332" y="4776"/>
                <a:ext cx="7622" cy="2370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pPr marL="285750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No target-vehicle baselines.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ideal path and time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  <a:sym typeface="+mn-ea"/>
                  </a:rPr>
                  <a:t>Fixed-risk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  <a:sym typeface="+mn-ea"/>
                  </a:rPr>
                  <a:t>basic uncertainty handling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  <a:p>
                <a:pPr marL="285750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111827"/>
                    </a:solidFill>
                    <a:latin typeface="UCL Sans" pitchFamily="2" charset="77"/>
                  </a:rPr>
                  <a:t>Variable-risk SMPC.</a:t>
                </a:r>
                <a:endParaRPr lang="en-US" altLang="en-US" sz="1800">
                  <a:solidFill>
                    <a:srgbClr val="111827"/>
                  </a:solidFill>
                  <a:latin typeface="UCL Sans" pitchFamily="2" charset="77"/>
                </a:endParaRPr>
              </a:p>
              <a:p>
                <a:pPr marL="742950" lvl="1" indent="-285750" latinLnBrk="0">
                  <a:spcAft>
                    <a:spcPts val="400"/>
                  </a:spcAft>
                  <a:buFont typeface="Arial" panose="020B0604020202090204" pitchFamily="34" charset="0"/>
                  <a:buChar char="•"/>
                </a:pPr>
                <a:r>
                  <a:rPr lang="en-US" altLang="en-US" sz="1800">
                    <a:solidFill>
                      <a:srgbClr val="FF0000"/>
                    </a:solidFill>
                    <a:latin typeface="UCL Sans" pitchFamily="2" charset="77"/>
                  </a:rPr>
                  <a:t>adaptive risk-budget allocation</a:t>
                </a:r>
                <a:endParaRPr lang="en-US" altLang="en-US" sz="1800">
                  <a:solidFill>
                    <a:srgbClr val="FF0000"/>
                  </a:solidFill>
                  <a:latin typeface="UCL Sans" pitchFamily="2" charset="77"/>
                </a:endParaRP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-123" y="3824"/>
                <a:ext cx="5589" cy="792"/>
              </a:xfrm>
              <a:prstGeom prst="roundRect">
                <a:avLst/>
              </a:prstGeom>
              <a:solidFill>
                <a:srgbClr val="DCFCE7"/>
              </a:solidFill>
              <a:ln>
                <a:solidFill>
                  <a:srgbClr val="16A34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defRPr sz="1700" b="1">
                    <a:solidFill>
                      <a:srgbClr val="172554"/>
                    </a:solidFill>
                  </a:defRPr>
                </a:pPr>
                <a:r>
                  <a:t>Testing: compare policies</a:t>
                </a:r>
                <a:endParaRPr lang="en-US"/>
              </a:p>
            </p:txBody>
          </p:sp>
        </p:grpSp>
        <p:sp>
          <p:nvSpPr>
            <p:cNvPr id="5" name="Rounded Rectangle 4"/>
            <p:cNvSpPr/>
            <p:nvPr/>
          </p:nvSpPr>
          <p:spPr>
            <a:xfrm>
              <a:off x="8302" y="5337"/>
              <a:ext cx="5688" cy="792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>
              <a:solidFill>
                <a:schemeClr val="accent6"/>
              </a:solidFill>
              <a:prstDash val="solid"/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defRPr sz="1700" b="1">
                  <a:solidFill>
                    <a:srgbClr val="172554"/>
                  </a:solidFill>
                </a:defRPr>
              </a:pPr>
              <a:r>
                <a:t>Evaluation: use metrics</a:t>
              </a:r>
              <a:endParaRPr lang="en-US"/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8206" y="6201"/>
              <a:ext cx="9600" cy="31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Completion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Solver feasibility.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Minimum distance to target vehicle.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Path deviation.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Comfort / jerk.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  <a:p>
              <a:pPr marL="285750" indent="-285750" latinLnBrk="0">
                <a:spcAft>
                  <a:spcPts val="400"/>
                </a:spcAft>
                <a:buFont typeface="Arial" panose="020B0604020202090204" pitchFamily="34" charset="0"/>
                <a:buChar char="•"/>
              </a:pPr>
              <a:r>
                <a:rPr lang="en-US" altLang="en-US" sz="1800">
                  <a:solidFill>
                    <a:srgbClr val="111827"/>
                  </a:solidFill>
                  <a:latin typeface="UCL Sans" pitchFamily="2" charset="77"/>
                </a:rPr>
                <a:t>Computation time.</a:t>
              </a:r>
              <a:endParaRPr lang="en-US" altLang="en-US" sz="1800">
                <a:solidFill>
                  <a:srgbClr val="111827"/>
                </a:solidFill>
                <a:latin typeface="UCL Sans" pitchFamily="2" charset="77"/>
              </a:endParaRPr>
            </a:p>
          </p:txBody>
        </p:sp>
      </p:grp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630" y="1287145"/>
            <a:ext cx="11469370" cy="1636395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-456565" y="6342380"/>
            <a:ext cx="1267269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GMM = Gaussian Mixture Model. It represents several possible target-vehicle trajectories and their probabilities.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  <a:p>
            <a:pPr lvl="1" indent="0" algn="l">
              <a:buFont typeface="Arial" panose="020B0604020202090204" pitchFamily="34" charset="0"/>
              <a:buNone/>
              <a:defRPr sz="2300" b="1">
                <a:solidFill>
                  <a:srgbClr val="172554"/>
                </a:solidFill>
              </a:defRPr>
            </a:pPr>
            <a:r>
              <a:rPr lang="en-US" altLang="en-US" sz="1400">
                <a:solidFill>
                  <a:srgbClr val="111827"/>
                </a:solidFill>
                <a:latin typeface="UCL Sans" pitchFamily="2" charset="77"/>
                <a:sym typeface="+mn-ea"/>
              </a:rPr>
              <a:t>SMPC = Stochastic Model Predictive Control. It chooses actions using probabilistic safety constraints.</a:t>
            </a:r>
            <a:endParaRPr lang="en-US" altLang="en-US" sz="1400">
              <a:solidFill>
                <a:srgbClr val="111827"/>
              </a:solidFill>
              <a:latin typeface="UCL Sans" pitchFamily="2" charset="77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09575"/>
            <a:ext cx="10343515" cy="838835"/>
          </a:xfrm>
        </p:spPr>
        <p:txBody>
          <a:bodyPr/>
          <a:p>
            <a:r>
              <a:rPr lang="en-GB">
                <a:latin typeface="UCL Sans SemiBold"/>
                <a:sym typeface="+mn-ea"/>
              </a:rPr>
              <a:t>Execution plan</a:t>
            </a:r>
            <a:r>
              <a:rPr lang="en-US" altLang="en-GB">
                <a:latin typeface="UCL Sans SemiBold"/>
                <a:sym typeface="+mn-ea"/>
              </a:rPr>
              <a:t>: </a:t>
            </a:r>
            <a:r>
              <a:rPr lang="en-US" altLang="en-US">
                <a:latin typeface="UCL Sans SemiBold"/>
                <a:sym typeface="+mn-ea"/>
              </a:rPr>
              <a:t>Timeline and Dependencies</a:t>
            </a:r>
            <a:endParaRPr lang="en-US" altLang="en-US">
              <a:latin typeface="UCL Sans SemiBold"/>
              <a:sym typeface="+mn-ea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225" y="1187450"/>
            <a:ext cx="10049510" cy="48266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Risk analysis</a:t>
            </a:r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385" y="1452880"/>
          <a:ext cx="11943080" cy="3127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7550"/>
                <a:gridCol w="3886200"/>
                <a:gridCol w="4799330"/>
              </a:tblGrid>
              <a:tr h="6045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Risk</a:t>
                      </a:r>
                      <a:endParaRPr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altLang="en-US" sz="1600"/>
                        <a:t>Impact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altLang="en-US" sz="1600"/>
                        <a:t>Mitigation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Simulator is slow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Experiments take time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Run small pilots first</a:t>
                      </a:r>
                      <a:r>
                        <a:rPr lang="en-US" sz="1600"/>
                        <a:t>, then scale experiments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0388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Planner fails</a:t>
                      </a:r>
                      <a:endParaRPr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Car may</a:t>
                      </a:r>
                      <a:r>
                        <a:rPr lang="en-US" sz="1600"/>
                        <a:t> </a:t>
                      </a:r>
                      <a:r>
                        <a:rPr lang="en-US" altLang="en-US" sz="1600"/>
                        <a:t>produce invalid actions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sz="1600"/>
                        <a:t>Save debug logs</a:t>
                      </a:r>
                      <a:r>
                        <a:rPr lang="en-US" sz="1600"/>
                        <a:t>, </a:t>
                      </a:r>
                      <a:r>
                        <a:rPr lang="en-US" altLang="en-US" sz="1600"/>
                        <a:t>use fallback analysis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GPUs from UCL are</a:t>
                      </a:r>
                      <a:r>
                        <a:rPr lang="en-US" altLang="en-US" sz="1600"/>
                        <a:t> limited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Experiments may be delayed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sz="1600"/>
                        <a:t>Use alternative GPUs such as Google Colab</a:t>
                      </a:r>
                      <a:endParaRPr lang="en-US" sz="1600"/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Results are mixed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Hypothesis may not be fully supported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rPr lang="en-US" altLang="en-US" sz="1600"/>
                        <a:t>Analyse failure cases instead of hiding them</a:t>
                      </a:r>
                      <a:endParaRPr lang="en-US" altLang="en-US" sz="1600"/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917440"/>
            <a:ext cx="10241280" cy="9601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The main risk is interpretability: </a:t>
            </a:r>
            <a:endParaRPr lang="en-US" altLang="en-US" sz="1800">
              <a:latin typeface="UCL Sans" pitchFamily="2" charset="77"/>
            </a:endParaRPr>
          </a:p>
          <a:p>
            <a:pPr indent="457200" algn="l">
              <a:defRPr sz="1500">
                <a:solidFill>
                  <a:srgbClr val="111827"/>
                </a:solidFill>
              </a:defRPr>
            </a:pPr>
            <a:r>
              <a:rPr lang="en-US" altLang="en-US" sz="1800">
                <a:latin typeface="UCL Sans" pitchFamily="2" charset="77"/>
              </a:rPr>
              <a:t>I need to know not only whether the car succeeds, but why it succeeds or fails.</a:t>
            </a:r>
            <a:endParaRPr lang="en-US" altLang="en-US"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people on a staircase&#10;&#10;AI-generated content may be incorrect."/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>
          <a:blip r:embed="rId1"/>
          <a:srcRect t="7707" b="7707"/>
          <a:stretch>
            <a:fillRect/>
          </a:stretch>
        </p:blipFill>
        <p:spPr/>
      </p:pic>
      <p:pic>
        <p:nvPicPr>
          <p:cNvPr id="7" name="Picture 6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5396865" y="4460875"/>
            <a:ext cx="541337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7200" b="1">
                <a:solidFill>
                  <a:schemeClr val="accent2"/>
                </a:solidFill>
              </a:rPr>
              <a:t>Thank you</a:t>
            </a:r>
            <a:endParaRPr lang="en-US" altLang="en-US" sz="7200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CL Slides templates - Simple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CL Slides templates - Complex design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ma:contentTypeVersion="" ma:contentTypeDescription="Create a new document." ct:_="" ma:_="" ma:contentTypeID="0x010100A12A0662030DBC4F99C1FA9D93D14A4C" ma:contentTypeScope="" ma:contentTypeName="Document" ma:versionID="601ee87aba0edee35dd0bd1031319f69">
  <xsd:schema xmlns:p="http://schemas.microsoft.com/office/2006/metadata/properties" xmlns:xs="http://www.w3.org/2001/XMLSchema" xmlns:ns2="1d368349-1023-48e7-96c9-f9d028f6f0fb" xmlns:ns3="1aa119c2-5735-4356-91ec-0ca074bf9097" xmlns:ns4="32f397aa-99c0-43f4-9b94-7b5d785faf95" xmlns:xsd="http://www.w3.org/2001/XMLSchema" ns2:_="" ns4:_="" targetNamespace="http://schemas.microsoft.com/office/2006/metadata/properties" ma:root="true" ns3:_="" ma:fieldsID="ceaa2ff74debb88eeec5ab219e85c5f9">
    <xsd:import namespace="1d368349-1023-48e7-96c9-f9d028f6f0fb"/>
    <xsd:import namespace="1aa119c2-5735-4356-91ec-0ca074bf9097"/>
    <xsd:import namespace="32f397aa-99c0-43f4-9b94-7b5d785faf95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AutoKeyPoints"/>
                <xsd:element minOccurs="0" ref="ns2:MediaServiceKeyPoints"/>
                <xsd:element minOccurs="0" ref="ns2:MediaServiceAutoTags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DateTaken"/>
                <xsd:element minOccurs="0" ref="ns3:SharedWithUsers"/>
                <xsd:element minOccurs="0" ref="ns3:SharedWithDetails"/>
                <xsd:element minOccurs="0" ref="ns2:MediaServiceLocation"/>
                <xsd:element minOccurs="0" ref="ns2:MediaLengthInSeconds"/>
                <xsd:element minOccurs="0" ref="ns2:lcf76f155ced4ddcb4097134ff3c332f"/>
                <xsd:element minOccurs="0" ref="ns4:TaxCatchAll"/>
                <xsd:element minOccurs="0" ref="ns2:MediaServiceObjectDetectorVersions"/>
                <xsd:element minOccurs="0" ref="ns2:MediaServiceSearchProperties"/>
              </xsd:all>
            </xsd:complexType>
          </xsd:element>
        </xsd:sequence>
      </xsd:complexType>
    </xsd:element>
  </xsd:schema>
  <xsd:schema xmlns:dms="http://schemas.microsoft.com/office/2006/documentManagement/types" xmlns:xs="http://www.w3.org/2001/XMLSchema" xmlns:xsd="http://www.w3.org/2001/XMLSchema" xmlns:pc="http://schemas.microsoft.com/office/infopath/2007/PartnerControls" targetNamespace="1d368349-1023-48e7-96c9-f9d028f6f0fb" elementFormDefault="qualified">
    <xsd:import namespace="http://schemas.microsoft.com/office/2006/documentManagement/types"/>
    <xsd:import namespace="http://schemas.microsoft.com/office/infopath/2007/PartnerControls"/>
    <xsd:element name="MediaServiceMetadata" ma:hidden="true" ma:displayName="MediaServiceMetadata" nillable="true" ma:internalName="MediaServiceMetadata" ma:readOnly="true" ma:index="8">
      <xsd:simpleType>
        <xsd:restriction base="dms:Note"/>
      </xsd:simpleType>
    </xsd:element>
    <xsd:element name="MediaServiceFastMetadata" ma:hidden="true" ma:displayName="MediaServiceFastMetadata" nillable="true" ma:internalName="MediaServiceFastMetadata" ma:readOnly="true" ma:index="9">
      <xsd:simpleType>
        <xsd:restriction base="dms:Note"/>
      </xsd:simpleType>
    </xsd:element>
    <xsd:element name="MediaServiceAutoKeyPoints" ma:hidden="true" ma:displayName="MediaServiceAutoKeyPoints" nillable="true" ma:internalName="MediaServiceAutoKeyPoints" ma:readOnly="true" ma:index="10">
      <xsd:simpleType>
        <xsd:restriction base="dms:Note"/>
      </xsd:simpleType>
    </xsd:element>
    <xsd:element name="MediaServiceKeyPoints" ma:displayName="KeyPoints" nillable="true" ma:internalName="MediaServiceKeyPoints" ma:readOnly="true" ma:index="11">
      <xsd:simpleType>
        <xsd:restriction base="dms:Note">
          <xsd:maxLength value="255"/>
        </xsd:restriction>
      </xsd:simpleType>
    </xsd:element>
    <xsd:element name="MediaServiceAutoTags" ma:displayName="Tags" nillable="true" ma:internalName="MediaServiceAutoTags" ma:readOnly="true" ma:index="12">
      <xsd:simpleType>
        <xsd:restriction base="dms:Text"/>
      </xsd:simpleType>
    </xsd:element>
    <xsd:element name="MediaServiceOCR" ma:displayName="Extracted Text" nillable="true" ma:internalName="MediaServiceOCR" ma:readOnly="true" ma:index="13">
      <xsd:simpleType>
        <xsd:restriction base="dms:Note">
          <xsd:maxLength value="255"/>
        </xsd:restriction>
      </xsd:simpleType>
    </xsd:element>
    <xsd:element name="MediaServiceGenerationTime" ma:hidden="true" ma:displayName="MediaServiceGenerationTime" nillable="true" ma:internalName="MediaServiceGenerationTime" ma:readOnly="true" ma:index="14">
      <xsd:simpleType>
        <xsd:restriction base="dms:Text"/>
      </xsd:simpleType>
    </xsd:element>
    <xsd:element name="MediaServiceEventHashCode" ma:hidden="true" ma:displayName="MediaServiceEventHashCode" nillable="true" ma:internalName="MediaServiceEventHashCode" ma:readOnly="true" ma:index="15">
      <xsd:simpleType>
        <xsd:restriction base="dms:Text"/>
      </xsd:simpleType>
    </xsd:element>
    <xsd:element name="MediaServiceDateTaken" ma:hidden="true" ma:displayName="MediaServiceDateTaken" nillable="true" ma:internalName="MediaServiceDateTaken" ma:readOnly="true" ma:index="16">
      <xsd:simpleType>
        <xsd:restriction base="dms:Text"/>
      </xsd:simpleType>
    </xsd:element>
    <xsd:element name="MediaServiceLocation" ma:displayName="Location" nillable="true" ma:internalName="MediaServiceLocation" ma:readOnly="true" ma:index="19">
      <xsd:simpleType>
        <xsd:restriction base="dms:Text"/>
      </xsd:simpleType>
    </xsd:element>
    <xsd:element name="MediaLengthInSeconds" ma:hidden="true" ma:displayName="MediaLengthInSeconds" nillable="true" ma:internalName="MediaLengthInSeconds" ma:readOnly="true" ma:index="20">
      <xsd:simpleType>
        <xsd:restriction base="dms:Unknown"/>
      </xsd:simpleType>
    </xsd:element>
    <xsd:element ma:open="true" name="lcf76f155ced4ddcb4097134ff3c332f" ma:taxonomy="true" ma:isKeyword="false" ma:termSetId="09814cd3-568e-fe90-9814-8d621ff8fb84" ma:fieldId="{5cf76f15-5ced-4ddc-b409-7134ff3c332f}" ma:displayName="Image Tags" nillable="true" ma:sspId="579a89b1-2c2c-4f7f-9bd7-7914fb13a02b" ma:taxonomyFieldName="MediaServiceImageTags" ma:taxonomyMulti="true" ma:anchorId="fba54fb3-c3e1-fe81-a776-ca4b69148c4d" ma:internalName="lcf76f155ced4ddcb4097134ff3c332f" ma:readOnly="false" ma:index="22">
      <xsd:complexType>
        <xsd:sequence>
          <xsd:element minOccurs="0" ref="pc:Terms" maxOccurs="1"/>
        </xsd:sequence>
      </xsd:complexType>
    </xsd:element>
    <xsd:element name="MediaServiceObjectDetectorVersions" ma:indexed="true" ma:hidden="true" ma:displayName="MediaServiceObjectDetectorVersions" nillable="true" ma:internalName="MediaServiceObjectDetectorVersions" ma:readOnly="true" ma:index="24">
      <xsd:simpleType>
        <xsd:restriction base="dms:Text"/>
      </xsd:simpleType>
    </xsd:element>
    <xsd:element name="MediaServiceSearchProperties" ma:hidden="true" ma:displayName="MediaServiceSearchProperties" nillable="true" ma:internalName="MediaServiceSearchProperties" ma:readOnly="true" ma:index="25">
      <xsd:simpleType>
        <xsd:restriction base="dms:Note"/>
      </xsd:simpleType>
    </xsd:element>
  </xsd:schema>
  <xsd:schema xmlns:dms="http://schemas.microsoft.com/office/2006/documentManagement/types" xmlns:xs="http://www.w3.org/2001/XMLSchema" xmlns:xsd="http://www.w3.org/2001/XMLSchema" xmlns:pc="http://schemas.microsoft.com/office/infopath/2007/PartnerControls" targetNamespace="1aa119c2-5735-4356-91ec-0ca074bf9097" elementFormDefault="qualified">
    <xsd:import namespace="http://schemas.microsoft.com/office/2006/documentManagement/types"/>
    <xsd:import namespace="http://schemas.microsoft.com/office/infopath/2007/PartnerControls"/>
    <xsd:element name="SharedWithUsers" ma:displayName="Shared With" nillable="true" ma:internalName="SharedWithUsers" ma:readOnly="true" ma:index="17">
      <xsd:complexType>
        <xsd:complexContent>
          <xsd:extension base="dms:UserMulti">
            <xsd:sequence>
              <xsd:element minOccurs="0" name="UserInfo" maxOccurs="unbounded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name="SharedWithDetails" ma:displayName="Shared With Details" nillable="true" ma:internalName="SharedWithDetails" ma:readOnly="true" ma:index="18">
      <xsd:simpleType>
        <xsd:restriction base="dms:Note">
          <xsd:maxLength value="255"/>
        </xsd:restriction>
      </xsd:simpleType>
    </xsd:element>
  </xsd:schema>
  <xsd:schema xmlns:dms="http://schemas.microsoft.com/office/2006/documentManagement/types" xmlns:xs="http://www.w3.org/2001/XMLSchema" xmlns:xsd="http://www.w3.org/2001/XMLSchema" xmlns:pc="http://schemas.microsoft.com/office/infopath/2007/PartnerControls" targetNamespace="32f397aa-99c0-43f4-9b94-7b5d785faf95" elementFormDefault="qualified">
    <xsd:import namespace="http://schemas.microsoft.com/office/2006/documentManagement/types"/>
    <xsd:import namespace="http://schemas.microsoft.com/office/infopath/2007/PartnerControls"/>
    <xsd:element ma:showField="CatchAllData" name="TaxCatchAll" ma:hidden="true" ma:displayName="Taxonomy Catch All Column" nillable="true" ma:web="32f397aa-99c0-43f4-9b94-7b5d785faf95" ma:internalName="TaxCatchAll" ma:index="23" ma:list="{d117ceb8-fbd8-4cd5-a93e-9fc1393353fc}">
      <xsd:complexType>
        <xsd:complexContent>
          <xsd:extension base="dms:MultiChoiceLookup">
            <xsd:sequence>
              <xsd:element minOccurs="0" name="Value" nillable="true" type="dms:Lookup" maxOccurs="unbounded"/>
            </xsd:sequence>
          </xsd:extension>
        </xsd:complexContent>
      </xsd:complexType>
    </xsd:element>
  </xsd:schema>
  <xsd:schema xmlns="http://schemas.openxmlformats.org/package/2006/metadata/core-properties" xmlns:dc="http://purl.org/dc/elements/1.1/" xmlns:xsi="http://www.w3.org/2001/XMLSchema-instance" xmlns:dcterms="http://purl.org/dc/terms/" xmlns:odoc="http://schemas.microsoft.com/internal/obd" xmlns:xsd="http://www.w3.org/2001/XMLSchema" blockDefault="#all" targetNamespace="http://schemas.openxmlformats.org/package/2006/metadata/core-properties" attributeFormDefault="unqualified" elementFormDefault="qualified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name="coreProperties" type="CT_coreProperties"/>
    <xsd:complexType name="CT_coreProperties">
      <xsd:all>
        <xsd:element minOccurs="0" ref="dc:creator" maxOccurs="1"/>
        <xsd:element minOccurs="0" ref="dcterms:created" maxOccurs="1"/>
        <xsd:element minOccurs="0" ref="dc:identifier" maxOccurs="1"/>
        <xsd:element minOccurs="0" name="contentType" ma:displayName="Content Type" type="xsd:string" maxOccurs="1" ma:index="0"/>
        <xsd:element minOccurs="0" ref="dc:title" ma:displayName="Title" maxOccurs="1" ma:index="4"/>
        <xsd:element minOccurs="0" ref="dc:subject" maxOccurs="1"/>
        <xsd:element minOccurs="0" ref="dc:description" maxOccurs="1"/>
        <xsd:element minOccurs="0" name="keywords" type="xsd:string" maxOccurs="1"/>
        <xsd:element minOccurs="0" ref="dc:language" maxOccurs="1"/>
        <xsd:element minOccurs="0" name="category" type="xsd:string" maxOccurs="1"/>
        <xsd:element minOccurs="0" name="version" type="xsd:string" maxOccurs="1"/>
        <xsd:element minOccurs="0" name="revision" type="xsd:string" maxOccurs="1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minOccurs="0" name="lastModifiedBy" type="xsd:string" maxOccurs="1"/>
        <xsd:element minOccurs="0" ref="dcterms:modified" maxOccurs="1"/>
        <xsd:element minOccurs="0" name="contentStatus" type="xsd:string" maxOccurs="1"/>
      </xsd:all>
    </xsd:complexType>
  </xsd:schema>
  <xs:schema xmlns:xs="http://www.w3.org/2001/XMLSchema" xmlns:pc="http://schemas.microsoft.com/office/infopath/2007/PartnerControls" targetNamespace="http://schemas.microsoft.com/office/infopath/2007/PartnerControls" attributeFormDefault="unqualified" elementFormDefault="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inOccurs="0" ref="pc:BDCEntity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inOccurs="0" ref="pc:TermInfo" maxOccurs="unbounded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xsi="http://www.w3.org/2001/XMLSchema-instance" xmlns:p="http://schemas.microsoft.com/office/2006/metadata/properties" xmlns:pc="http://schemas.microsoft.com/office/infopath/2007/PartnerControls">
  <documentManagement>
    <lcf76f155ced4ddcb4097134ff3c332f xmlns="1d368349-1023-48e7-96c9-f9d028f6f0fb">
      <Terms xmlns="http://schemas.microsoft.com/office/infopath/2007/PartnerControls"/>
    </lcf76f155ced4ddcb4097134ff3c332f>
    <TaxCatchAll xmlns="32f397aa-99c0-43f4-9b94-7b5d785faf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618EBA-795F-4487-B29C-4E0D2C8D67FE}">
  <ds:schemaRefs/>
</ds:datastoreItem>
</file>

<file path=customXml/itemProps2.xml><?xml version="1.0" encoding="utf-8"?>
<ds:datastoreItem xmlns:ds="http://schemas.openxmlformats.org/officeDocument/2006/customXml" ds:itemID="{6ECBB2BC-B86C-4646-888A-87EB55C19509}">
  <ds:schemaRefs/>
</ds:datastoreItem>
</file>

<file path=customXml/itemProps3.xml><?xml version="1.0" encoding="utf-8"?>
<ds:datastoreItem xmlns:ds="http://schemas.openxmlformats.org/officeDocument/2006/customXml" ds:itemID="{55700595-49AE-497B-9134-6C4B03871A7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UCL Slides templates - Simple theme</Template>
  <TotalTime>0</TotalTime>
  <Words>4215</Words>
  <Application>WPS Presentation</Application>
  <PresentationFormat>宽屏</PresentationFormat>
  <Paragraphs>211</Paragraphs>
  <Slides>11</Slides>
  <Notes>9</Notes>
  <HiddenSlides>0</HiddenSlides>
  <MMClips>1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6" baseType="lpstr">
      <vt:lpstr>Arial</vt:lpstr>
      <vt:lpstr>SimSun</vt:lpstr>
      <vt:lpstr>Wingdings</vt:lpstr>
      <vt:lpstr>Aptos</vt:lpstr>
      <vt:lpstr>Helvetica Neue</vt:lpstr>
      <vt:lpstr>UCL Sans SemiBold</vt:lpstr>
      <vt:lpstr>UCL Sans</vt:lpstr>
      <vt:lpstr>UCL Sans</vt:lpstr>
      <vt:lpstr>UCL Sans SemiBold</vt:lpstr>
      <vt:lpstr>Microsoft YaHei</vt:lpstr>
      <vt:lpstr>汉仪旗黑</vt:lpstr>
      <vt:lpstr>Arial Unicode MS</vt:lpstr>
      <vt:lpstr>宋体-简</vt:lpstr>
      <vt:lpstr>UCL Slides templates - Simple theme</vt:lpstr>
      <vt:lpstr>UCL Slides templates - Complex design theme</vt:lpstr>
      <vt:lpstr>PowerPoint 演示文稿</vt:lpstr>
      <vt:lpstr>Area of Research: Motion Planning under Uncertainty</vt:lpstr>
      <vt:lpstr>Problem: Crossing an Intersection Safely</vt:lpstr>
      <vt:lpstr>Core Problem: One Predicted Future Is Not Enough</vt:lpstr>
      <vt:lpstr>Significance: Safety Requires More Than Stopping</vt:lpstr>
      <vt:lpstr>State of the Art: From Prediction to Safe Planning</vt:lpstr>
      <vt:lpstr>Hypothesis</vt:lpstr>
      <vt:lpstr>Execution plan</vt:lpstr>
      <vt:lpstr>Execution plan: Timeline and Dependencies</vt:lpstr>
      <vt:lpstr>Risk analysis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ucypevl-test</dc:creator>
  <cp:lastModifiedBy>Jiaqi Xie</cp:lastModifiedBy>
  <cp:revision>574</cp:revision>
  <dcterms:created xsi:type="dcterms:W3CDTF">2026-06-05T15:01:37Z</dcterms:created>
  <dcterms:modified xsi:type="dcterms:W3CDTF">2026-06-05T15:01:37Z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0x010100A12A0662030DBC4F99C1FA9D93D14A4C</vt:lpwstr>
  </property>
  <property fmtid="{D5CDD505-2E9C-101B-9397-08002B2CF9AE}" pid="3" name="MediaServiceImageTags">
    <vt:lpwstr/>
  </property>
  <property fmtid="{D5CDD505-2E9C-101B-9397-08002B2CF9AE}" pid="4" name="ICV">
    <vt:lpwstr>D68932A3971E5BB62107176A6AD29C46_42</vt:lpwstr>
  </property>
  <property fmtid="{D5CDD505-2E9C-101B-9397-08002B2CF9AE}" pid="5" name="KSOProductBuildVer">
    <vt:lpwstr>1033-12.1.25897.25897</vt:lpwstr>
  </property>
</Properties>
</file>